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311" r:id="rId3"/>
    <p:sldId id="270" r:id="rId4"/>
    <p:sldId id="271" r:id="rId5"/>
    <p:sldId id="303" r:id="rId6"/>
    <p:sldId id="273" r:id="rId7"/>
    <p:sldId id="274" r:id="rId8"/>
    <p:sldId id="275" r:id="rId9"/>
    <p:sldId id="312" r:id="rId10"/>
    <p:sldId id="289" r:id="rId11"/>
    <p:sldId id="288" r:id="rId12"/>
    <p:sldId id="315" r:id="rId13"/>
    <p:sldId id="323" r:id="rId14"/>
    <p:sldId id="283" r:id="rId15"/>
    <p:sldId id="301" r:id="rId16"/>
    <p:sldId id="308" r:id="rId17"/>
    <p:sldId id="277" r:id="rId18"/>
    <p:sldId id="278" r:id="rId19"/>
    <p:sldId id="279" r:id="rId20"/>
    <p:sldId id="280" r:id="rId21"/>
    <p:sldId id="281" r:id="rId22"/>
    <p:sldId id="282" r:id="rId23"/>
    <p:sldId id="313" r:id="rId24"/>
    <p:sldId id="305" r:id="rId25"/>
    <p:sldId id="287" r:id="rId26"/>
    <p:sldId id="286" r:id="rId27"/>
    <p:sldId id="285" r:id="rId28"/>
    <p:sldId id="306" r:id="rId29"/>
    <p:sldId id="292" r:id="rId30"/>
    <p:sldId id="319" r:id="rId31"/>
    <p:sldId id="318" r:id="rId32"/>
    <p:sldId id="317" r:id="rId33"/>
    <p:sldId id="309" r:id="rId34"/>
    <p:sldId id="297" r:id="rId35"/>
    <p:sldId id="310" r:id="rId36"/>
    <p:sldId id="298" r:id="rId37"/>
    <p:sldId id="291" r:id="rId38"/>
    <p:sldId id="290" r:id="rId39"/>
    <p:sldId id="338" r:id="rId40"/>
    <p:sldId id="341" r:id="rId41"/>
    <p:sldId id="336" r:id="rId42"/>
    <p:sldId id="337" r:id="rId43"/>
    <p:sldId id="339" r:id="rId44"/>
    <p:sldId id="296" r:id="rId45"/>
    <p:sldId id="307" r:id="rId46"/>
    <p:sldId id="294" r:id="rId47"/>
    <p:sldId id="333" r:id="rId48"/>
    <p:sldId id="293" r:id="rId49"/>
    <p:sldId id="328" r:id="rId50"/>
    <p:sldId id="329" r:id="rId51"/>
    <p:sldId id="340" r:id="rId52"/>
    <p:sldId id="334" r:id="rId53"/>
    <p:sldId id="335" r:id="rId54"/>
    <p:sldId id="331" r:id="rId55"/>
    <p:sldId id="332" r:id="rId56"/>
    <p:sldId id="300" r:id="rId57"/>
    <p:sldId id="304" r:id="rId5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40" autoAdjust="0"/>
    <p:restoredTop sz="96445" autoAdjust="0"/>
  </p:normalViewPr>
  <p:slideViewPr>
    <p:cSldViewPr snapToGrid="0">
      <p:cViewPr>
        <p:scale>
          <a:sx n="150" d="100"/>
          <a:sy n="150" d="100"/>
        </p:scale>
        <p:origin x="-1704" y="-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1A66D7-C896-481C-B8A8-942B0083AEA4}" type="doc">
      <dgm:prSet loTypeId="urn:microsoft.com/office/officeart/2005/8/layout/process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TW" altLang="en-US"/>
        </a:p>
      </dgm:t>
    </dgm:pt>
    <dgm:pt modelId="{021B4324-9D31-433C-B742-39871D0DD020}">
      <dgm:prSet phldrT="[文字]"/>
      <dgm:spPr/>
      <dgm:t>
        <a:bodyPr/>
        <a:lstStyle/>
        <a:p>
          <a:r>
            <a:rPr lang="en-US" altLang="zh-TW"/>
            <a:t>Algorithm</a:t>
          </a:r>
          <a:endParaRPr lang="zh-TW" altLang="en-US"/>
        </a:p>
      </dgm:t>
    </dgm:pt>
    <dgm:pt modelId="{8FCD9769-9B31-40BF-8439-61E336BC0EDB}" type="parTrans" cxnId="{384DFE45-B757-4C8F-BD78-D23A41F60004}">
      <dgm:prSet/>
      <dgm:spPr/>
      <dgm:t>
        <a:bodyPr/>
        <a:lstStyle/>
        <a:p>
          <a:endParaRPr lang="zh-TW" altLang="en-US"/>
        </a:p>
      </dgm:t>
    </dgm:pt>
    <dgm:pt modelId="{E38CE958-6EDA-41A0-95EF-FC8392772F5F}" type="sibTrans" cxnId="{384DFE45-B757-4C8F-BD78-D23A41F60004}">
      <dgm:prSet/>
      <dgm:spPr/>
      <dgm:t>
        <a:bodyPr/>
        <a:lstStyle/>
        <a:p>
          <a:endParaRPr lang="zh-TW" altLang="en-US"/>
        </a:p>
      </dgm:t>
    </dgm:pt>
    <dgm:pt modelId="{C6EAA4EA-01C5-4B58-ACFC-7405084A2CE3}">
      <dgm:prSet phldrT="[文字]"/>
      <dgm:spPr/>
      <dgm:t>
        <a:bodyPr/>
        <a:lstStyle/>
        <a:p>
          <a:r>
            <a:rPr lang="en-US" altLang="zh-TW"/>
            <a:t>Profiling</a:t>
          </a:r>
          <a:endParaRPr lang="zh-TW" altLang="en-US"/>
        </a:p>
      </dgm:t>
    </dgm:pt>
    <dgm:pt modelId="{1F7B59B0-C78D-4A68-87A1-3F2C4BC5E606}" type="parTrans" cxnId="{3FE33572-D545-4420-B89C-BE88088B5735}">
      <dgm:prSet/>
      <dgm:spPr/>
      <dgm:t>
        <a:bodyPr/>
        <a:lstStyle/>
        <a:p>
          <a:endParaRPr lang="zh-TW" altLang="en-US"/>
        </a:p>
      </dgm:t>
    </dgm:pt>
    <dgm:pt modelId="{F76157D2-DB63-4632-8C3A-34A58E54EB1C}" type="sibTrans" cxnId="{3FE33572-D545-4420-B89C-BE88088B5735}">
      <dgm:prSet/>
      <dgm:spPr/>
      <dgm:t>
        <a:bodyPr/>
        <a:lstStyle/>
        <a:p>
          <a:endParaRPr lang="zh-TW" altLang="en-US"/>
        </a:p>
      </dgm:t>
    </dgm:pt>
    <dgm:pt modelId="{669EA85A-DDB8-460D-ACC0-2D4EA532AC34}">
      <dgm:prSet phldrT="[文字]"/>
      <dgm:spPr/>
      <dgm:t>
        <a:bodyPr/>
        <a:lstStyle/>
        <a:p>
          <a:r>
            <a:rPr lang="en-US" altLang="zh-TW"/>
            <a:t>Hardware</a:t>
          </a:r>
          <a:endParaRPr lang="zh-TW" altLang="en-US"/>
        </a:p>
      </dgm:t>
    </dgm:pt>
    <dgm:pt modelId="{20218C41-33DA-482B-9A0C-010C51B6E48A}" type="parTrans" cxnId="{4D9062B7-E6F1-4E80-BB4C-003D7058F53E}">
      <dgm:prSet/>
      <dgm:spPr/>
      <dgm:t>
        <a:bodyPr/>
        <a:lstStyle/>
        <a:p>
          <a:endParaRPr lang="zh-TW" altLang="en-US"/>
        </a:p>
      </dgm:t>
    </dgm:pt>
    <dgm:pt modelId="{9431E853-F989-42C0-A4CB-B05BD189755E}" type="sibTrans" cxnId="{4D9062B7-E6F1-4E80-BB4C-003D7058F53E}">
      <dgm:prSet/>
      <dgm:spPr/>
      <dgm:t>
        <a:bodyPr/>
        <a:lstStyle/>
        <a:p>
          <a:endParaRPr lang="zh-TW" altLang="en-US"/>
        </a:p>
      </dgm:t>
    </dgm:pt>
    <dgm:pt modelId="{4F783501-1634-4666-9D9E-63D54D27D6BA}">
      <dgm:prSet/>
      <dgm:spPr/>
      <dgm:t>
        <a:bodyPr/>
        <a:lstStyle/>
        <a:p>
          <a:r>
            <a:rPr lang="en-US" b="0" i="0"/>
            <a:t>Integration</a:t>
          </a:r>
          <a:endParaRPr lang="zh-TW" altLang="en-US"/>
        </a:p>
      </dgm:t>
    </dgm:pt>
    <dgm:pt modelId="{2D3AF54C-7B49-4D64-B10A-B708BD9E8970}" type="parTrans" cxnId="{7A68DE4E-5014-417F-B4A9-A921B00BA539}">
      <dgm:prSet/>
      <dgm:spPr/>
      <dgm:t>
        <a:bodyPr/>
        <a:lstStyle/>
        <a:p>
          <a:endParaRPr lang="zh-TW" altLang="en-US"/>
        </a:p>
      </dgm:t>
    </dgm:pt>
    <dgm:pt modelId="{86E2849B-10D2-4E4B-8E19-DE9C343EF174}" type="sibTrans" cxnId="{7A68DE4E-5014-417F-B4A9-A921B00BA539}">
      <dgm:prSet/>
      <dgm:spPr/>
      <dgm:t>
        <a:bodyPr/>
        <a:lstStyle/>
        <a:p>
          <a:endParaRPr lang="zh-TW" altLang="en-US"/>
        </a:p>
      </dgm:t>
    </dgm:pt>
    <dgm:pt modelId="{7D76C824-F99D-4BB2-994A-A8DD31F934CA}">
      <dgm:prSet/>
      <dgm:spPr/>
      <dgm:t>
        <a:bodyPr/>
        <a:lstStyle/>
        <a:p>
          <a:r>
            <a:rPr lang="en-US" altLang="zh-TW"/>
            <a:t>Compare</a:t>
          </a:r>
          <a:endParaRPr lang="zh-TW" altLang="en-US"/>
        </a:p>
      </dgm:t>
    </dgm:pt>
    <dgm:pt modelId="{D220AE9F-121F-4C2F-9DE9-200D6FCFEE80}" type="parTrans" cxnId="{DF1AB00A-011F-4020-B1CE-B5D4E5BB6D34}">
      <dgm:prSet/>
      <dgm:spPr/>
      <dgm:t>
        <a:bodyPr/>
        <a:lstStyle/>
        <a:p>
          <a:endParaRPr lang="zh-TW" altLang="en-US"/>
        </a:p>
      </dgm:t>
    </dgm:pt>
    <dgm:pt modelId="{3045777C-BB36-4DFF-BABC-149679261E14}" type="sibTrans" cxnId="{DF1AB00A-011F-4020-B1CE-B5D4E5BB6D34}">
      <dgm:prSet/>
      <dgm:spPr/>
      <dgm:t>
        <a:bodyPr/>
        <a:lstStyle/>
        <a:p>
          <a:endParaRPr lang="zh-TW" altLang="en-US"/>
        </a:p>
      </dgm:t>
    </dgm:pt>
    <dgm:pt modelId="{2F54D930-2213-43EF-854E-B5A0B6AEEC4E}" type="pres">
      <dgm:prSet presAssocID="{A41A66D7-C896-481C-B8A8-942B0083AEA4}" presName="Name0" presStyleCnt="0">
        <dgm:presLayoutVars>
          <dgm:dir/>
          <dgm:resizeHandles val="exact"/>
        </dgm:presLayoutVars>
      </dgm:prSet>
      <dgm:spPr/>
    </dgm:pt>
    <dgm:pt modelId="{A3DC2D74-5946-4112-B054-077F44414E5C}" type="pres">
      <dgm:prSet presAssocID="{021B4324-9D31-433C-B742-39871D0DD020}" presName="node" presStyleLbl="node1" presStyleIdx="0" presStyleCnt="5" custLinFactNeighborX="4116">
        <dgm:presLayoutVars>
          <dgm:bulletEnabled val="1"/>
        </dgm:presLayoutVars>
      </dgm:prSet>
      <dgm:spPr/>
    </dgm:pt>
    <dgm:pt modelId="{301C31D5-F63D-4FBB-94EE-8C8E6F91C972}" type="pres">
      <dgm:prSet presAssocID="{E38CE958-6EDA-41A0-95EF-FC8392772F5F}" presName="sibTrans" presStyleLbl="sibTrans2D1" presStyleIdx="0" presStyleCnt="4"/>
      <dgm:spPr/>
    </dgm:pt>
    <dgm:pt modelId="{99F07D77-98D5-4095-B5D5-99749789F31B}" type="pres">
      <dgm:prSet presAssocID="{E38CE958-6EDA-41A0-95EF-FC8392772F5F}" presName="connectorText" presStyleLbl="sibTrans2D1" presStyleIdx="0" presStyleCnt="4"/>
      <dgm:spPr/>
    </dgm:pt>
    <dgm:pt modelId="{A13EE788-3C9F-4A02-A56D-787AF8B85640}" type="pres">
      <dgm:prSet presAssocID="{C6EAA4EA-01C5-4B58-ACFC-7405084A2CE3}" presName="node" presStyleLbl="node1" presStyleIdx="1" presStyleCnt="5" custLinFactNeighborX="4116">
        <dgm:presLayoutVars>
          <dgm:bulletEnabled val="1"/>
        </dgm:presLayoutVars>
      </dgm:prSet>
      <dgm:spPr/>
    </dgm:pt>
    <dgm:pt modelId="{4BE905D9-B76B-4322-87D6-4EDE9C16D26B}" type="pres">
      <dgm:prSet presAssocID="{F76157D2-DB63-4632-8C3A-34A58E54EB1C}" presName="sibTrans" presStyleLbl="sibTrans2D1" presStyleIdx="1" presStyleCnt="4"/>
      <dgm:spPr/>
    </dgm:pt>
    <dgm:pt modelId="{374E9DB4-2067-4BCE-B610-7ED41DBDA90D}" type="pres">
      <dgm:prSet presAssocID="{F76157D2-DB63-4632-8C3A-34A58E54EB1C}" presName="connectorText" presStyleLbl="sibTrans2D1" presStyleIdx="1" presStyleCnt="4"/>
      <dgm:spPr/>
    </dgm:pt>
    <dgm:pt modelId="{F4493D62-06CA-49DD-90E8-6413AE51B283}" type="pres">
      <dgm:prSet presAssocID="{669EA85A-DDB8-460D-ACC0-2D4EA532AC34}" presName="node" presStyleLbl="node1" presStyleIdx="2" presStyleCnt="5" custLinFactNeighborX="4116">
        <dgm:presLayoutVars>
          <dgm:bulletEnabled val="1"/>
        </dgm:presLayoutVars>
      </dgm:prSet>
      <dgm:spPr/>
    </dgm:pt>
    <dgm:pt modelId="{AB9A709F-FF07-4F9B-8AF3-557646D6C19C}" type="pres">
      <dgm:prSet presAssocID="{9431E853-F989-42C0-A4CB-B05BD189755E}" presName="sibTrans" presStyleLbl="sibTrans2D1" presStyleIdx="2" presStyleCnt="4"/>
      <dgm:spPr/>
    </dgm:pt>
    <dgm:pt modelId="{1708A2C1-1A5D-44FB-B971-575E8581801A}" type="pres">
      <dgm:prSet presAssocID="{9431E853-F989-42C0-A4CB-B05BD189755E}" presName="connectorText" presStyleLbl="sibTrans2D1" presStyleIdx="2" presStyleCnt="4"/>
      <dgm:spPr/>
    </dgm:pt>
    <dgm:pt modelId="{B3C9C369-9D59-4547-8A90-67723D8E8988}" type="pres">
      <dgm:prSet presAssocID="{4F783501-1634-4666-9D9E-63D54D27D6BA}" presName="node" presStyleLbl="node1" presStyleIdx="3" presStyleCnt="5" custLinFactNeighborX="9605" custLinFactNeighborY="-1830">
        <dgm:presLayoutVars>
          <dgm:bulletEnabled val="1"/>
        </dgm:presLayoutVars>
      </dgm:prSet>
      <dgm:spPr/>
    </dgm:pt>
    <dgm:pt modelId="{BDEAA2AC-E717-492F-8329-32F74BD1008A}" type="pres">
      <dgm:prSet presAssocID="{86E2849B-10D2-4E4B-8E19-DE9C343EF174}" presName="sibTrans" presStyleLbl="sibTrans2D1" presStyleIdx="3" presStyleCnt="4"/>
      <dgm:spPr/>
    </dgm:pt>
    <dgm:pt modelId="{340B100E-D5F8-4A90-906D-E15BF1340A66}" type="pres">
      <dgm:prSet presAssocID="{86E2849B-10D2-4E4B-8E19-DE9C343EF174}" presName="connectorText" presStyleLbl="sibTrans2D1" presStyleIdx="3" presStyleCnt="4"/>
      <dgm:spPr/>
    </dgm:pt>
    <dgm:pt modelId="{53C1B7FD-4EF6-4249-AF68-D958211D66C7}" type="pres">
      <dgm:prSet presAssocID="{7D76C824-F99D-4BB2-994A-A8DD31F934CA}" presName="node" presStyleLbl="node1" presStyleIdx="4" presStyleCnt="5" custLinFactNeighborX="4116">
        <dgm:presLayoutVars>
          <dgm:bulletEnabled val="1"/>
        </dgm:presLayoutVars>
      </dgm:prSet>
      <dgm:spPr/>
    </dgm:pt>
  </dgm:ptLst>
  <dgm:cxnLst>
    <dgm:cxn modelId="{FB7A4201-BA07-470A-95C9-5BC5ECC78094}" type="presOf" srcId="{A41A66D7-C896-481C-B8A8-942B0083AEA4}" destId="{2F54D930-2213-43EF-854E-B5A0B6AEEC4E}" srcOrd="0" destOrd="0" presId="urn:microsoft.com/office/officeart/2005/8/layout/process1"/>
    <dgm:cxn modelId="{DF1AB00A-011F-4020-B1CE-B5D4E5BB6D34}" srcId="{A41A66D7-C896-481C-B8A8-942B0083AEA4}" destId="{7D76C824-F99D-4BB2-994A-A8DD31F934CA}" srcOrd="4" destOrd="0" parTransId="{D220AE9F-121F-4C2F-9DE9-200D6FCFEE80}" sibTransId="{3045777C-BB36-4DFF-BABC-149679261E14}"/>
    <dgm:cxn modelId="{135C0321-92AD-4D18-80C8-515D3E41C68B}" type="presOf" srcId="{669EA85A-DDB8-460D-ACC0-2D4EA532AC34}" destId="{F4493D62-06CA-49DD-90E8-6413AE51B283}" srcOrd="0" destOrd="0" presId="urn:microsoft.com/office/officeart/2005/8/layout/process1"/>
    <dgm:cxn modelId="{B727083E-571D-416F-8ABF-F5C577F074E0}" type="presOf" srcId="{86E2849B-10D2-4E4B-8E19-DE9C343EF174}" destId="{340B100E-D5F8-4A90-906D-E15BF1340A66}" srcOrd="1" destOrd="0" presId="urn:microsoft.com/office/officeart/2005/8/layout/process1"/>
    <dgm:cxn modelId="{D7D7625E-A90F-44E8-9123-3E2F793BCC85}" type="presOf" srcId="{021B4324-9D31-433C-B742-39871D0DD020}" destId="{A3DC2D74-5946-4112-B054-077F44414E5C}" srcOrd="0" destOrd="0" presId="urn:microsoft.com/office/officeart/2005/8/layout/process1"/>
    <dgm:cxn modelId="{384DFE45-B757-4C8F-BD78-D23A41F60004}" srcId="{A41A66D7-C896-481C-B8A8-942B0083AEA4}" destId="{021B4324-9D31-433C-B742-39871D0DD020}" srcOrd="0" destOrd="0" parTransId="{8FCD9769-9B31-40BF-8439-61E336BC0EDB}" sibTransId="{E38CE958-6EDA-41A0-95EF-FC8392772F5F}"/>
    <dgm:cxn modelId="{C8240446-6E41-420F-BE5B-1B25423FE7BB}" type="presOf" srcId="{7D76C824-F99D-4BB2-994A-A8DD31F934CA}" destId="{53C1B7FD-4EF6-4249-AF68-D958211D66C7}" srcOrd="0" destOrd="0" presId="urn:microsoft.com/office/officeart/2005/8/layout/process1"/>
    <dgm:cxn modelId="{5D1FA34E-48EF-4D18-A64E-C189C4510EE4}" type="presOf" srcId="{F76157D2-DB63-4632-8C3A-34A58E54EB1C}" destId="{4BE905D9-B76B-4322-87D6-4EDE9C16D26B}" srcOrd="0" destOrd="0" presId="urn:microsoft.com/office/officeart/2005/8/layout/process1"/>
    <dgm:cxn modelId="{7A68DE4E-5014-417F-B4A9-A921B00BA539}" srcId="{A41A66D7-C896-481C-B8A8-942B0083AEA4}" destId="{4F783501-1634-4666-9D9E-63D54D27D6BA}" srcOrd="3" destOrd="0" parTransId="{2D3AF54C-7B49-4D64-B10A-B708BD9E8970}" sibTransId="{86E2849B-10D2-4E4B-8E19-DE9C343EF174}"/>
    <dgm:cxn modelId="{3FE33572-D545-4420-B89C-BE88088B5735}" srcId="{A41A66D7-C896-481C-B8A8-942B0083AEA4}" destId="{C6EAA4EA-01C5-4B58-ACFC-7405084A2CE3}" srcOrd="1" destOrd="0" parTransId="{1F7B59B0-C78D-4A68-87A1-3F2C4BC5E606}" sibTransId="{F76157D2-DB63-4632-8C3A-34A58E54EB1C}"/>
    <dgm:cxn modelId="{31EB9A75-AE10-46AB-97E1-AADBBA7B533D}" type="presOf" srcId="{C6EAA4EA-01C5-4B58-ACFC-7405084A2CE3}" destId="{A13EE788-3C9F-4A02-A56D-787AF8B85640}" srcOrd="0" destOrd="0" presId="urn:microsoft.com/office/officeart/2005/8/layout/process1"/>
    <dgm:cxn modelId="{30833580-9008-46A2-8480-2ABAEA900E28}" type="presOf" srcId="{4F783501-1634-4666-9D9E-63D54D27D6BA}" destId="{B3C9C369-9D59-4547-8A90-67723D8E8988}" srcOrd="0" destOrd="0" presId="urn:microsoft.com/office/officeart/2005/8/layout/process1"/>
    <dgm:cxn modelId="{9679B3B1-79CF-4C5A-8739-E5321D48AD75}" type="presOf" srcId="{F76157D2-DB63-4632-8C3A-34A58E54EB1C}" destId="{374E9DB4-2067-4BCE-B610-7ED41DBDA90D}" srcOrd="1" destOrd="0" presId="urn:microsoft.com/office/officeart/2005/8/layout/process1"/>
    <dgm:cxn modelId="{4D9062B7-E6F1-4E80-BB4C-003D7058F53E}" srcId="{A41A66D7-C896-481C-B8A8-942B0083AEA4}" destId="{669EA85A-DDB8-460D-ACC0-2D4EA532AC34}" srcOrd="2" destOrd="0" parTransId="{20218C41-33DA-482B-9A0C-010C51B6E48A}" sibTransId="{9431E853-F989-42C0-A4CB-B05BD189755E}"/>
    <dgm:cxn modelId="{482809C3-7D4C-437F-B9C8-9C624BC39049}" type="presOf" srcId="{9431E853-F989-42C0-A4CB-B05BD189755E}" destId="{AB9A709F-FF07-4F9B-8AF3-557646D6C19C}" srcOrd="0" destOrd="0" presId="urn:microsoft.com/office/officeart/2005/8/layout/process1"/>
    <dgm:cxn modelId="{438038CD-3F54-48AC-B909-573372F60C69}" type="presOf" srcId="{9431E853-F989-42C0-A4CB-B05BD189755E}" destId="{1708A2C1-1A5D-44FB-B971-575E8581801A}" srcOrd="1" destOrd="0" presId="urn:microsoft.com/office/officeart/2005/8/layout/process1"/>
    <dgm:cxn modelId="{11BFB0D2-107A-4D37-9BD7-177BF01C6D81}" type="presOf" srcId="{E38CE958-6EDA-41A0-95EF-FC8392772F5F}" destId="{301C31D5-F63D-4FBB-94EE-8C8E6F91C972}" srcOrd="0" destOrd="0" presId="urn:microsoft.com/office/officeart/2005/8/layout/process1"/>
    <dgm:cxn modelId="{9C25EFEB-C9AF-42FB-9176-FAD854EEDB4D}" type="presOf" srcId="{E38CE958-6EDA-41A0-95EF-FC8392772F5F}" destId="{99F07D77-98D5-4095-B5D5-99749789F31B}" srcOrd="1" destOrd="0" presId="urn:microsoft.com/office/officeart/2005/8/layout/process1"/>
    <dgm:cxn modelId="{2D4E6DF5-2EDE-4ED1-8F02-20D5545CC667}" type="presOf" srcId="{86E2849B-10D2-4E4B-8E19-DE9C343EF174}" destId="{BDEAA2AC-E717-492F-8329-32F74BD1008A}" srcOrd="0" destOrd="0" presId="urn:microsoft.com/office/officeart/2005/8/layout/process1"/>
    <dgm:cxn modelId="{EAF0EB90-197B-4747-B621-B49236A43F5F}" type="presParOf" srcId="{2F54D930-2213-43EF-854E-B5A0B6AEEC4E}" destId="{A3DC2D74-5946-4112-B054-077F44414E5C}" srcOrd="0" destOrd="0" presId="urn:microsoft.com/office/officeart/2005/8/layout/process1"/>
    <dgm:cxn modelId="{820A8E30-6572-417B-B594-8AD80D5B2338}" type="presParOf" srcId="{2F54D930-2213-43EF-854E-B5A0B6AEEC4E}" destId="{301C31D5-F63D-4FBB-94EE-8C8E6F91C972}" srcOrd="1" destOrd="0" presId="urn:microsoft.com/office/officeart/2005/8/layout/process1"/>
    <dgm:cxn modelId="{1B73E510-123A-48C9-9EF7-5A8E4520F7B7}" type="presParOf" srcId="{301C31D5-F63D-4FBB-94EE-8C8E6F91C972}" destId="{99F07D77-98D5-4095-B5D5-99749789F31B}" srcOrd="0" destOrd="0" presId="urn:microsoft.com/office/officeart/2005/8/layout/process1"/>
    <dgm:cxn modelId="{B8307988-7E88-4CC7-B2C0-4505F05FA8F9}" type="presParOf" srcId="{2F54D930-2213-43EF-854E-B5A0B6AEEC4E}" destId="{A13EE788-3C9F-4A02-A56D-787AF8B85640}" srcOrd="2" destOrd="0" presId="urn:microsoft.com/office/officeart/2005/8/layout/process1"/>
    <dgm:cxn modelId="{88BCF07D-1665-473E-B7A5-6145A0C0BA31}" type="presParOf" srcId="{2F54D930-2213-43EF-854E-B5A0B6AEEC4E}" destId="{4BE905D9-B76B-4322-87D6-4EDE9C16D26B}" srcOrd="3" destOrd="0" presId="urn:microsoft.com/office/officeart/2005/8/layout/process1"/>
    <dgm:cxn modelId="{4B4922D3-54FC-4893-A3A6-4B41C6C9D05C}" type="presParOf" srcId="{4BE905D9-B76B-4322-87D6-4EDE9C16D26B}" destId="{374E9DB4-2067-4BCE-B610-7ED41DBDA90D}" srcOrd="0" destOrd="0" presId="urn:microsoft.com/office/officeart/2005/8/layout/process1"/>
    <dgm:cxn modelId="{12A2F166-5CB8-4570-A0F4-0606DD7BBB06}" type="presParOf" srcId="{2F54D930-2213-43EF-854E-B5A0B6AEEC4E}" destId="{F4493D62-06CA-49DD-90E8-6413AE51B283}" srcOrd="4" destOrd="0" presId="urn:microsoft.com/office/officeart/2005/8/layout/process1"/>
    <dgm:cxn modelId="{28D860C9-7197-4DE8-8193-04487D38FBB2}" type="presParOf" srcId="{2F54D930-2213-43EF-854E-B5A0B6AEEC4E}" destId="{AB9A709F-FF07-4F9B-8AF3-557646D6C19C}" srcOrd="5" destOrd="0" presId="urn:microsoft.com/office/officeart/2005/8/layout/process1"/>
    <dgm:cxn modelId="{ECA4555F-E911-45C7-8043-1EF1C278568E}" type="presParOf" srcId="{AB9A709F-FF07-4F9B-8AF3-557646D6C19C}" destId="{1708A2C1-1A5D-44FB-B971-575E8581801A}" srcOrd="0" destOrd="0" presId="urn:microsoft.com/office/officeart/2005/8/layout/process1"/>
    <dgm:cxn modelId="{4C5BB50B-6452-477B-8775-5F5811F7832D}" type="presParOf" srcId="{2F54D930-2213-43EF-854E-B5A0B6AEEC4E}" destId="{B3C9C369-9D59-4547-8A90-67723D8E8988}" srcOrd="6" destOrd="0" presId="urn:microsoft.com/office/officeart/2005/8/layout/process1"/>
    <dgm:cxn modelId="{334E22A1-D428-4544-876E-D064B03CFC6E}" type="presParOf" srcId="{2F54D930-2213-43EF-854E-B5A0B6AEEC4E}" destId="{BDEAA2AC-E717-492F-8329-32F74BD1008A}" srcOrd="7" destOrd="0" presId="urn:microsoft.com/office/officeart/2005/8/layout/process1"/>
    <dgm:cxn modelId="{63E70E5B-A67B-4BC8-ADB2-8C89FC2C3795}" type="presParOf" srcId="{BDEAA2AC-E717-492F-8329-32F74BD1008A}" destId="{340B100E-D5F8-4A90-906D-E15BF1340A66}" srcOrd="0" destOrd="0" presId="urn:microsoft.com/office/officeart/2005/8/layout/process1"/>
    <dgm:cxn modelId="{1BC29143-8537-4736-AEF8-599396A8EEDE}" type="presParOf" srcId="{2F54D930-2213-43EF-854E-B5A0B6AEEC4E}" destId="{53C1B7FD-4EF6-4249-AF68-D958211D66C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DC2D74-5946-4112-B054-077F44414E5C}">
      <dsp:nvSpPr>
        <dsp:cNvPr id="0" name=""/>
        <dsp:cNvSpPr/>
      </dsp:nvSpPr>
      <dsp:spPr>
        <a:xfrm>
          <a:off x="34169" y="2010644"/>
          <a:ext cx="1735413" cy="104124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600" kern="1200"/>
            <a:t>Algorithm</a:t>
          </a:r>
          <a:endParaRPr lang="zh-TW" altLang="en-US" sz="2600" kern="1200"/>
        </a:p>
      </dsp:txBody>
      <dsp:txXfrm>
        <a:off x="64666" y="2041141"/>
        <a:ext cx="1674419" cy="980254"/>
      </dsp:txXfrm>
    </dsp:sp>
    <dsp:sp modelId="{301C31D5-F63D-4FBB-94EE-8C8E6F91C972}">
      <dsp:nvSpPr>
        <dsp:cNvPr id="0" name=""/>
        <dsp:cNvSpPr/>
      </dsp:nvSpPr>
      <dsp:spPr>
        <a:xfrm>
          <a:off x="1943124" y="2316077"/>
          <a:ext cx="367907" cy="430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900" kern="1200"/>
        </a:p>
      </dsp:txBody>
      <dsp:txXfrm>
        <a:off x="1943124" y="2402153"/>
        <a:ext cx="257535" cy="258230"/>
      </dsp:txXfrm>
    </dsp:sp>
    <dsp:sp modelId="{A13EE788-3C9F-4A02-A56D-787AF8B85640}">
      <dsp:nvSpPr>
        <dsp:cNvPr id="0" name=""/>
        <dsp:cNvSpPr/>
      </dsp:nvSpPr>
      <dsp:spPr>
        <a:xfrm>
          <a:off x="2463748" y="2010644"/>
          <a:ext cx="1735413" cy="104124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600" kern="1200"/>
            <a:t>Profiling</a:t>
          </a:r>
          <a:endParaRPr lang="zh-TW" altLang="en-US" sz="2600" kern="1200"/>
        </a:p>
      </dsp:txBody>
      <dsp:txXfrm>
        <a:off x="2494245" y="2041141"/>
        <a:ext cx="1674419" cy="980254"/>
      </dsp:txXfrm>
    </dsp:sp>
    <dsp:sp modelId="{4BE905D9-B76B-4322-87D6-4EDE9C16D26B}">
      <dsp:nvSpPr>
        <dsp:cNvPr id="0" name=""/>
        <dsp:cNvSpPr/>
      </dsp:nvSpPr>
      <dsp:spPr>
        <a:xfrm>
          <a:off x="4372703" y="2316077"/>
          <a:ext cx="367907" cy="430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900" kern="1200"/>
        </a:p>
      </dsp:txBody>
      <dsp:txXfrm>
        <a:off x="4372703" y="2402153"/>
        <a:ext cx="257535" cy="258230"/>
      </dsp:txXfrm>
    </dsp:sp>
    <dsp:sp modelId="{F4493D62-06CA-49DD-90E8-6413AE51B283}">
      <dsp:nvSpPr>
        <dsp:cNvPr id="0" name=""/>
        <dsp:cNvSpPr/>
      </dsp:nvSpPr>
      <dsp:spPr>
        <a:xfrm>
          <a:off x="4893327" y="2010644"/>
          <a:ext cx="1735413" cy="104124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600" kern="1200"/>
            <a:t>Hardware</a:t>
          </a:r>
          <a:endParaRPr lang="zh-TW" altLang="en-US" sz="2600" kern="1200"/>
        </a:p>
      </dsp:txBody>
      <dsp:txXfrm>
        <a:off x="4923824" y="2041141"/>
        <a:ext cx="1674419" cy="980254"/>
      </dsp:txXfrm>
    </dsp:sp>
    <dsp:sp modelId="{AB9A709F-FF07-4F9B-8AF3-557646D6C19C}">
      <dsp:nvSpPr>
        <dsp:cNvPr id="0" name=""/>
        <dsp:cNvSpPr/>
      </dsp:nvSpPr>
      <dsp:spPr>
        <a:xfrm rot="21573455">
          <a:off x="6811802" y="2306465"/>
          <a:ext cx="388113" cy="430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900" kern="1200"/>
        </a:p>
      </dsp:txBody>
      <dsp:txXfrm>
        <a:off x="6811804" y="2392991"/>
        <a:ext cx="271679" cy="258230"/>
      </dsp:txXfrm>
    </dsp:sp>
    <dsp:sp modelId="{B3C9C369-9D59-4547-8A90-67723D8E8988}">
      <dsp:nvSpPr>
        <dsp:cNvPr id="0" name=""/>
        <dsp:cNvSpPr/>
      </dsp:nvSpPr>
      <dsp:spPr>
        <a:xfrm>
          <a:off x="7361009" y="1991590"/>
          <a:ext cx="1735413" cy="104124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Integration</a:t>
          </a:r>
          <a:endParaRPr lang="zh-TW" altLang="en-US" sz="2600" kern="1200"/>
        </a:p>
      </dsp:txBody>
      <dsp:txXfrm>
        <a:off x="7391506" y="2022087"/>
        <a:ext cx="1674419" cy="980254"/>
      </dsp:txXfrm>
    </dsp:sp>
    <dsp:sp modelId="{BDEAA2AC-E717-492F-8329-32F74BD1008A}">
      <dsp:nvSpPr>
        <dsp:cNvPr id="0" name=""/>
        <dsp:cNvSpPr/>
      </dsp:nvSpPr>
      <dsp:spPr>
        <a:xfrm rot="27656">
          <a:off x="9254689" y="2306626"/>
          <a:ext cx="335547" cy="430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900" kern="1200"/>
        </a:p>
      </dsp:txBody>
      <dsp:txXfrm>
        <a:off x="9254691" y="2392297"/>
        <a:ext cx="234883" cy="258230"/>
      </dsp:txXfrm>
    </dsp:sp>
    <dsp:sp modelId="{53C1B7FD-4EF6-4249-AF68-D958211D66C7}">
      <dsp:nvSpPr>
        <dsp:cNvPr id="0" name=""/>
        <dsp:cNvSpPr/>
      </dsp:nvSpPr>
      <dsp:spPr>
        <a:xfrm>
          <a:off x="9729511" y="2010644"/>
          <a:ext cx="1735413" cy="104124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600" kern="1200"/>
            <a:t>Compare</a:t>
          </a:r>
          <a:endParaRPr lang="zh-TW" altLang="en-US" sz="2600" kern="1200"/>
        </a:p>
      </dsp:txBody>
      <dsp:txXfrm>
        <a:off x="9760008" y="2041141"/>
        <a:ext cx="1674419" cy="9802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CFE7F-85B0-4E39-8BC5-C2ABBA298EB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C9741A-D0C5-4054-B45C-C93C9DF4DB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453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2B8777-C7F7-4F60-8BD9-298BC13F3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2600"/>
            <a:ext cx="9144000" cy="812800"/>
          </a:xfrm>
          <a:prstGeom prst="rect">
            <a:avLst/>
          </a:prstGeom>
        </p:spPr>
        <p:txBody>
          <a:bodyPr anchor="b"/>
          <a:lstStyle>
            <a:lvl1pPr algn="ctr"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F77C7F4-744F-4CCC-A485-14BDEB120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7600" y="3139282"/>
            <a:ext cx="7315200" cy="5860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</p:spTree>
    <p:extLst>
      <p:ext uri="{BB962C8B-B14F-4D97-AF65-F5344CB8AC3E}">
        <p14:creationId xmlns:p14="http://schemas.microsoft.com/office/powerpoint/2010/main" val="2023162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7E0C07-B290-4F18-9582-339376D9D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550334"/>
          </a:xfrm>
          <a:prstGeom prst="rect">
            <a:avLst/>
          </a:prstGeom>
        </p:spPr>
        <p:txBody>
          <a:bodyPr/>
          <a:lstStyle>
            <a:lvl1pPr>
              <a:defRPr lang="zh-TW" altLang="en-US" sz="3200" b="1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662ED2-7C84-46AD-B6E7-DB93AFD19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5063067"/>
          </a:xfrm>
          <a:prstGeom prst="rect">
            <a:avLst/>
          </a:prstGeom>
        </p:spPr>
        <p:txBody>
          <a:bodyPr/>
          <a:lstStyle>
            <a:lvl1pPr marL="457200" indent="-457200">
              <a:buSzPct val="60000"/>
              <a:buFont typeface="Wingdings" panose="05000000000000000000" pitchFamily="2" charset="2"/>
              <a:buChar char="l"/>
              <a:defRPr lang="zh-TW" altLang="en-US" sz="2400" b="1" kern="12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800100" indent="-342900">
              <a:buSzPct val="60000"/>
              <a:buFont typeface="Wingdings" panose="05000000000000000000" pitchFamily="2" charset="2"/>
              <a:buChar char="ü"/>
              <a:defRPr sz="2200"/>
            </a:lvl2pPr>
            <a:lvl3pPr marL="1257300" indent="-342900">
              <a:buSzPct val="60000"/>
              <a:buFont typeface="Wingdings" panose="05000000000000000000" pitchFamily="2" charset="2"/>
              <a:buChar char="l"/>
              <a:defRPr/>
            </a:lvl3pPr>
            <a:lvl4pPr marL="1657350" indent="-285750">
              <a:buSzPct val="60000"/>
              <a:buFont typeface="Wingdings" panose="05000000000000000000" pitchFamily="2" charset="2"/>
              <a:buChar char="l"/>
              <a:defRPr/>
            </a:lvl4pPr>
            <a:lvl5pPr marL="2114550" indent="-285750">
              <a:buSzPct val="60000"/>
              <a:buFont typeface="Wingdings" panose="05000000000000000000" pitchFamily="2" charset="2"/>
              <a:buChar char="l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39D406-F580-4B38-B954-3C2D65227A86}"/>
              </a:ext>
            </a:extLst>
          </p:cNvPr>
          <p:cNvSpPr txBox="1"/>
          <p:nvPr userDrawn="1"/>
        </p:nvSpPr>
        <p:spPr>
          <a:xfrm>
            <a:off x="117597" y="6341533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568A993B-1FF1-4DCD-8FE8-3954D88CA5F6}" type="slidenum">
              <a:rPr lang="zh-TW" altLang="en-US" sz="2400" b="1" smtClean="0">
                <a:solidFill>
                  <a:srgbClr val="002060"/>
                </a:solidFill>
              </a:rPr>
              <a:t>‹#›</a:t>
            </a:fld>
            <a:endParaRPr lang="zh-TW" altLang="en-US" sz="24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21667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833E9C-F686-4286-A991-436F5B789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675" y="2936875"/>
            <a:ext cx="6076950" cy="587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Thanks for your attention.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54C3285-B26C-407D-A7CB-C12E1E885F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337" y="2381399"/>
            <a:ext cx="2295238" cy="2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4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2" descr="Untitled_10p_1">
            <a:extLst>
              <a:ext uri="{FF2B5EF4-FFF2-40B4-BE49-F238E27FC236}">
                <a16:creationId xmlns:a16="http://schemas.microsoft.com/office/drawing/2014/main" id="{370948D4-F1F4-483D-8114-1FF7B6FDEE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28B6074-AADD-4AD8-90DB-594D0CF0E63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550" y="-103137"/>
            <a:ext cx="2158450" cy="80158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71A577B-64E9-40A1-A659-A6F262C605B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890055" y="6356350"/>
            <a:ext cx="2062386" cy="42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8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0.png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C0439B2-9E92-43F9-ABB8-04D6EF17F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800" y="3796199"/>
            <a:ext cx="2290465" cy="237600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C2BFD67-31CC-4B8C-ABA0-6C8207C4C9DF}"/>
              </a:ext>
            </a:extLst>
          </p:cNvPr>
          <p:cNvSpPr txBox="1"/>
          <p:nvPr/>
        </p:nvSpPr>
        <p:spPr>
          <a:xfrm>
            <a:off x="4484026" y="4522534"/>
            <a:ext cx="32239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/>
              <a:t>Advising Prof.</a:t>
            </a:r>
            <a:r>
              <a:rPr lang="zh-TW" altLang="en-US"/>
              <a:t> </a:t>
            </a:r>
            <a:r>
              <a:rPr lang="en-US" altLang="zh-TW"/>
              <a:t>:</a:t>
            </a:r>
            <a:r>
              <a:rPr lang="zh-TW" altLang="en-US"/>
              <a:t> 黃穎聰 教授</a:t>
            </a:r>
            <a:r>
              <a:rPr lang="en-US" altLang="zh-TW"/>
              <a:t> </a:t>
            </a:r>
          </a:p>
          <a:p>
            <a:pPr algn="ctr"/>
            <a:r>
              <a:rPr lang="en-US" altLang="zh-TW"/>
              <a:t>Student</a:t>
            </a:r>
            <a:r>
              <a:rPr lang="zh-TW" altLang="en-US"/>
              <a:t> </a:t>
            </a:r>
            <a:r>
              <a:rPr lang="en-US" altLang="zh-TW"/>
              <a:t>:</a:t>
            </a:r>
            <a:r>
              <a:rPr lang="zh-TW" altLang="en-US"/>
              <a:t> 陳帛駿</a:t>
            </a:r>
            <a:endParaRPr lang="en-US" altLang="zh-TW"/>
          </a:p>
          <a:p>
            <a:endParaRPr lang="zh-TW" altLang="en-US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AC07827C-DD70-4BDB-B83B-179B1C70A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3947" y="986589"/>
            <a:ext cx="9184105" cy="3232484"/>
          </a:xfrm>
        </p:spPr>
        <p:txBody>
          <a:bodyPr/>
          <a:lstStyle/>
          <a:p>
            <a:br>
              <a:rPr lang="en-US" altLang="zh-TW"/>
            </a:br>
            <a:r>
              <a:rPr lang="en-US" altLang="zh-TW"/>
              <a:t>Geological</a:t>
            </a:r>
            <a:r>
              <a:rPr lang="zh-TW" altLang="en-US"/>
              <a:t> </a:t>
            </a:r>
            <a:r>
              <a:rPr lang="en-US" altLang="zh-TW"/>
              <a:t>Modeling</a:t>
            </a:r>
            <a:r>
              <a:rPr lang="zh-TW" altLang="en-US"/>
              <a:t> </a:t>
            </a:r>
            <a:r>
              <a:rPr lang="en-US" altLang="zh-TW"/>
              <a:t>by</a:t>
            </a:r>
            <a:br>
              <a:rPr lang="en-US" altLang="zh-TW"/>
            </a:br>
            <a:r>
              <a:rPr lang="en-US" altLang="zh-TW"/>
              <a:t>Cokriging</a:t>
            </a:r>
            <a:r>
              <a:rPr lang="zh-TW" altLang="en-US"/>
              <a:t> </a:t>
            </a:r>
            <a:r>
              <a:rPr lang="en-US" altLang="zh-TW"/>
              <a:t>Interpolation</a:t>
            </a:r>
            <a:r>
              <a:rPr lang="zh-TW" altLang="en-US"/>
              <a:t> </a:t>
            </a:r>
            <a:r>
              <a:rPr lang="en-US" altLang="zh-TW"/>
              <a:t>in</a:t>
            </a:r>
            <a:r>
              <a:rPr lang="zh-TW" altLang="en-US"/>
              <a:t> </a:t>
            </a:r>
            <a:r>
              <a:rPr lang="en-US" altLang="zh-TW"/>
              <a:t>GemPy</a:t>
            </a:r>
            <a:br>
              <a:rPr lang="en-US" altLang="zh-TW"/>
            </a:br>
            <a:r>
              <a:rPr lang="en-US" altLang="zh-TW"/>
              <a:t>and</a:t>
            </a:r>
            <a:r>
              <a:rPr lang="zh-TW" altLang="en-US"/>
              <a:t> </a:t>
            </a:r>
            <a:r>
              <a:rPr lang="en-US" altLang="zh-TW"/>
              <a:t>Its</a:t>
            </a:r>
            <a:r>
              <a:rPr lang="zh-TW" altLang="en-US"/>
              <a:t> </a:t>
            </a:r>
            <a:r>
              <a:rPr lang="en-US" altLang="zh-TW"/>
              <a:t>Hardware</a:t>
            </a:r>
            <a:r>
              <a:rPr lang="zh-TW" altLang="en-US"/>
              <a:t> </a:t>
            </a:r>
            <a:r>
              <a:rPr lang="en-US" altLang="zh-TW"/>
              <a:t>Acceleration</a:t>
            </a:r>
            <a:br>
              <a:rPr lang="en-US" altLang="zh-TW"/>
            </a:b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1939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315C3-4EB3-1CC0-7D1C-8922C7EB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Project</a:t>
            </a:r>
            <a:r>
              <a:rPr lang="zh-TW" altLang="en-US"/>
              <a:t> </a:t>
            </a:r>
            <a:r>
              <a:rPr lang="en-US" altLang="zh-TW"/>
              <a:t>Flow</a:t>
            </a:r>
            <a:r>
              <a:rPr lang="zh-TW" altLang="en-US"/>
              <a:t> </a:t>
            </a:r>
            <a:r>
              <a:rPr lang="en-US" altLang="zh-TW"/>
              <a:t>Chart</a:t>
            </a:r>
            <a:endParaRPr lang="zh-TW" altLang="en-US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CFBE2BE0-390B-CC74-C103-58087C1571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417257"/>
              </p:ext>
            </p:extLst>
          </p:nvPr>
        </p:nvGraphicFramePr>
        <p:xfrm>
          <a:off x="388938" y="1219200"/>
          <a:ext cx="11464925" cy="5062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6045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D6C33B-FD3E-452F-BDC5-D190A7309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GemPy</a:t>
            </a:r>
            <a:r>
              <a:rPr lang="zh-TW" altLang="en-US"/>
              <a:t> </a:t>
            </a:r>
            <a:r>
              <a:rPr lang="en-US" altLang="zh-TW"/>
              <a:t>Geological</a:t>
            </a:r>
            <a:r>
              <a:rPr lang="zh-TW" altLang="en-US"/>
              <a:t> </a:t>
            </a:r>
            <a:r>
              <a:rPr lang="en-US" altLang="zh-TW"/>
              <a:t>Modeling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8C6E7C-7E09-4100-B2CA-8FFC2AF45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TW" b="0">
                <a:latin typeface="+mj-lt"/>
              </a:rPr>
              <a:t>T</a:t>
            </a:r>
            <a:r>
              <a:rPr lang="en-US" altLang="zh-TW" b="0" i="0" u="none" strike="noStrike" baseline="0">
                <a:latin typeface="+mj-lt"/>
              </a:rPr>
              <a:t>he construction of 3-D geological models from geological</a:t>
            </a:r>
            <a:endParaRPr lang="en-US" altLang="zh-TW" b="0">
              <a:latin typeface="+mj-lt"/>
            </a:endParaRPr>
          </a:p>
          <a:p>
            <a:pPr marL="0" indent="0" algn="l">
              <a:buNone/>
            </a:pPr>
            <a:r>
              <a:rPr lang="zh-TW" altLang="en-US" b="0">
                <a:latin typeface="+mj-lt"/>
              </a:rPr>
              <a:t>      </a:t>
            </a:r>
            <a:r>
              <a:rPr lang="en-US" altLang="zh-TW" b="0" i="0" u="none" strike="noStrike" baseline="0">
                <a:latin typeface="+mj-lt"/>
              </a:rPr>
              <a:t>input data.</a:t>
            </a:r>
            <a:r>
              <a:rPr lang="zh-TW" altLang="en-US" b="0" i="0" u="none" strike="noStrike" baseline="0">
                <a:latin typeface="+mj-lt"/>
              </a:rPr>
              <a:t> </a:t>
            </a:r>
            <a:r>
              <a:rPr lang="en-US" altLang="zh-TW" b="0">
                <a:latin typeface="+mn-lt"/>
              </a:rPr>
              <a:t>Include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solidFill>
                  <a:srgbClr val="FF0000"/>
                </a:solidFill>
                <a:latin typeface="+mn-lt"/>
              </a:rPr>
              <a:t>s</a:t>
            </a:r>
            <a:r>
              <a:rPr lang="en-US" altLang="zh-TW" b="0" i="0" u="none" strike="noStrike" baseline="0">
                <a:solidFill>
                  <a:srgbClr val="FF0000"/>
                </a:solidFill>
                <a:latin typeface="+mn-lt"/>
              </a:rPr>
              <a:t>urface contact points</a:t>
            </a:r>
            <a:r>
              <a:rPr lang="en-US" altLang="zh-TW" b="0" i="0" u="none" strike="noStrike" baseline="0">
                <a:latin typeface="+mn-lt"/>
              </a:rPr>
              <a:t> and </a:t>
            </a:r>
            <a:r>
              <a:rPr lang="en-US" altLang="zh-TW" b="0" i="0" u="none" strike="noStrike" baseline="0">
                <a:solidFill>
                  <a:srgbClr val="FF0000"/>
                </a:solidFill>
                <a:latin typeface="+mn-lt"/>
              </a:rPr>
              <a:t>orientation</a:t>
            </a:r>
          </a:p>
          <a:p>
            <a:pPr marL="0" indent="0" algn="l">
              <a:buNone/>
            </a:pPr>
            <a:r>
              <a:rPr lang="zh-TW" altLang="en-US" b="0">
                <a:latin typeface="+mn-lt"/>
              </a:rPr>
              <a:t>      </a:t>
            </a:r>
            <a:r>
              <a:rPr lang="en-US" altLang="zh-TW" b="0">
                <a:latin typeface="+mn-lt"/>
              </a:rPr>
              <a:t>m</a:t>
            </a:r>
            <a:r>
              <a:rPr lang="en-US" altLang="zh-TW" b="0" i="0" u="none" strike="noStrike" baseline="0">
                <a:latin typeface="+mn-lt"/>
              </a:rPr>
              <a:t>easurements,</a:t>
            </a:r>
            <a:r>
              <a:rPr lang="zh-TW" altLang="en-US">
                <a:latin typeface="+mn-lt"/>
                <a:ea typeface="+mj-ea"/>
              </a:rPr>
              <a:t> </a:t>
            </a:r>
            <a:r>
              <a:rPr lang="en-US" altLang="zh-TW" b="0" i="0" u="none" strike="noStrike" baseline="0">
                <a:latin typeface="+mn-lt"/>
              </a:rPr>
              <a:t>stratigraphic</a:t>
            </a:r>
            <a:r>
              <a:rPr lang="zh-TW" altLang="en-US" b="0" i="0" u="none" strike="noStrike" baseline="0">
                <a:latin typeface="+mn-lt"/>
              </a:rPr>
              <a:t> </a:t>
            </a:r>
            <a:r>
              <a:rPr lang="en-US" altLang="zh-TW" b="0" i="0" u="none" strike="noStrike" baseline="0">
                <a:latin typeface="+mn-lt"/>
              </a:rPr>
              <a:t>sequences and fault</a:t>
            </a:r>
            <a:r>
              <a:rPr lang="zh-TW" altLang="en-US" b="0" i="0" u="none" strike="noStrike" baseline="0">
                <a:latin typeface="+mn-lt"/>
              </a:rPr>
              <a:t> </a:t>
            </a:r>
            <a:r>
              <a:rPr lang="en-US" altLang="zh-TW" b="0" i="0" u="none" strike="noStrike" baseline="0">
                <a:latin typeface="+mn-lt"/>
              </a:rPr>
              <a:t>networks.</a:t>
            </a:r>
            <a:endParaRPr lang="zh-TW" altLang="en-US">
              <a:latin typeface="+mn-lt"/>
              <a:ea typeface="+mj-ea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0119FCD-0EF5-494E-BB9B-D71977A2C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425" y="684551"/>
            <a:ext cx="3435788" cy="559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9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5B7840-C520-47EE-A5F5-71F856AEAA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altLang="zh-TW" b="0" i="0" u="none" strike="noStrike" baseline="0">
                    <a:latin typeface="+mn-lt"/>
                  </a:rPr>
                  <a:t>The general idea is to construct an </a:t>
                </a:r>
                <a:r>
                  <a:rPr lang="en-US" altLang="zh-TW" b="0" i="0" u="none" strike="noStrike" baseline="0">
                    <a:solidFill>
                      <a:srgbClr val="FF0000"/>
                    </a:solidFill>
                    <a:latin typeface="+mn-lt"/>
                  </a:rPr>
                  <a:t>interpolation</a:t>
                </a:r>
                <a:r>
                  <a:rPr lang="zh-TW" altLang="en-US" b="0" i="0" u="none" strike="noStrike" baseline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altLang="zh-TW" b="0" i="0" u="none" strike="noStrike" baseline="0">
                    <a:solidFill>
                      <a:srgbClr val="FF0000"/>
                    </a:solidFill>
                    <a:latin typeface="+mn-lt"/>
                  </a:rPr>
                  <a:t>function Z(x) </a:t>
                </a:r>
                <a:r>
                  <a:rPr lang="en-US" altLang="zh-TW" b="0" i="0" u="none" strike="noStrike" baseline="0">
                    <a:latin typeface="+mn-lt"/>
                  </a:rPr>
                  <a:t>where x is any point in the continuous</a:t>
                </a:r>
                <a:r>
                  <a:rPr lang="zh-TW" altLang="en-US" b="0" i="0" u="none" strike="noStrike" baseline="0">
                    <a:latin typeface="+mn-lt"/>
                  </a:rPr>
                  <a:t> </a:t>
                </a:r>
                <a:r>
                  <a:rPr lang="en-US" altLang="zh-TW" b="0" i="0" u="none" strike="noStrike" baseline="0">
                    <a:latin typeface="+mn-lt"/>
                  </a:rPr>
                  <a:t>three-dimensional space</a:t>
                </a:r>
                <a:r>
                  <a:rPr lang="zh-TW" altLang="en-US" b="0" i="0" u="none" strike="noStrike" baseline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u="none" strike="noStrike" baseline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u="none" strike="noStrike" baseline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u="none" strike="noStrike" baseline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b="0" i="1" u="none" strike="noStrike" baseline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TW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zh-TW" altLang="en-US" b="0" dirty="0"/>
                          <m:t> </m:t>
                        </m:r>
                      </m:e>
                      <m:sup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TW" b="0" i="0" u="none" strike="noStrike" baseline="0">
                    <a:latin typeface="+mn-lt"/>
                  </a:rPr>
                  <a:t>, which describes</a:t>
                </a:r>
                <a:r>
                  <a:rPr lang="zh-TW" altLang="en-US" b="0" i="0" u="none" strike="noStrike" baseline="0">
                    <a:latin typeface="+mn-lt"/>
                  </a:rPr>
                  <a:t> </a:t>
                </a:r>
                <a:r>
                  <a:rPr lang="en-US" altLang="zh-TW" b="0" i="0" u="none" strike="noStrike" baseline="0">
                    <a:latin typeface="+mn-lt"/>
                  </a:rPr>
                  <a:t>the domain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b="0" i="0" u="none" strike="noStrike" baseline="0">
                    <a:latin typeface="+mn-lt"/>
                  </a:rPr>
                  <a:t>as a </a:t>
                </a:r>
                <a:r>
                  <a:rPr lang="en-US" altLang="zh-TW" b="0" i="0" u="none" strike="noStrike" baseline="0">
                    <a:solidFill>
                      <a:srgbClr val="FF0000"/>
                    </a:solidFill>
                    <a:latin typeface="+mn-lt"/>
                  </a:rPr>
                  <a:t>scalar field</a:t>
                </a:r>
                <a:r>
                  <a:rPr lang="en-US" altLang="zh-TW" b="0" i="0" u="none" strike="noStrike" baseline="0">
                    <a:latin typeface="+mn-lt"/>
                  </a:rPr>
                  <a:t>.</a:t>
                </a:r>
              </a:p>
              <a:p>
                <a:pPr algn="just"/>
                <a:r>
                  <a:rPr lang="en-US" altLang="zh-TW" b="0" i="0" u="none" strike="noStrike" baseline="0">
                    <a:latin typeface="NimbusRomNo9L-Regu"/>
                  </a:rPr>
                  <a:t>The interpolation function is obtained as a </a:t>
                </a:r>
                <a:r>
                  <a:rPr lang="en-US" altLang="zh-TW" b="0" i="0" u="none" strike="noStrike" baseline="0">
                    <a:solidFill>
                      <a:srgbClr val="FF0000"/>
                    </a:solidFill>
                    <a:latin typeface="NimbusRomNo9L-Regu"/>
                  </a:rPr>
                  <a:t>weighted</a:t>
                </a:r>
                <a:r>
                  <a:rPr lang="en-US" altLang="zh-TW" b="0" i="0" u="none" strike="noStrike" baseline="0">
                    <a:latin typeface="NimbusRomNo9L-Regu"/>
                  </a:rPr>
                  <a:t> interpolation</a:t>
                </a:r>
                <a:r>
                  <a:rPr lang="zh-TW" altLang="en-US" b="0" i="0" u="none" strike="noStrike" baseline="0">
                    <a:latin typeface="NimbusRomNo9L-Regu"/>
                  </a:rPr>
                  <a:t> </a:t>
                </a:r>
                <a:r>
                  <a:rPr lang="en-US" altLang="zh-TW" b="0" i="0" u="none" strike="noStrike" baseline="0">
                    <a:latin typeface="NimbusRomNo9L-Regu"/>
                  </a:rPr>
                  <a:t>based on </a:t>
                </a:r>
                <a:r>
                  <a:rPr lang="en-US" altLang="zh-TW" b="0" i="0" u="none" strike="noStrike" baseline="0">
                    <a:solidFill>
                      <a:srgbClr val="FF0000"/>
                    </a:solidFill>
                    <a:latin typeface="NimbusRomNo9L-Regu"/>
                  </a:rPr>
                  <a:t>universal cokriging</a:t>
                </a:r>
                <a:r>
                  <a:rPr lang="en-US" altLang="zh-TW" b="0">
                    <a:latin typeface="+mn-lt"/>
                  </a:rPr>
                  <a:t>.</a:t>
                </a:r>
                <a:endParaRPr lang="en-US" altLang="zh-TW" b="0" i="1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5B7840-C520-47EE-A5F5-71F856AEAA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" t="-1685" r="-8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416E4629-B87C-40B1-9B5E-95D2338BF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53" y="3040747"/>
            <a:ext cx="5141894" cy="3373082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36672D32-EF25-4655-9EA1-3A7D6E926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550334"/>
          </a:xfrm>
        </p:spPr>
        <p:txBody>
          <a:bodyPr/>
          <a:lstStyle/>
          <a:p>
            <a:r>
              <a:rPr lang="en-US" altLang="zh-TW"/>
              <a:t>GemPy</a:t>
            </a:r>
            <a:r>
              <a:rPr lang="zh-TW" altLang="en-US"/>
              <a:t> </a:t>
            </a:r>
            <a:r>
              <a:rPr lang="en-US" altLang="zh-TW"/>
              <a:t>Geological</a:t>
            </a:r>
            <a:r>
              <a:rPr lang="zh-TW" altLang="en-US"/>
              <a:t> </a:t>
            </a:r>
            <a:r>
              <a:rPr lang="en-US" altLang="zh-TW"/>
              <a:t>Modeling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3798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2EFAED-BA0C-4366-B1D9-0882880F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Kriging</a:t>
            </a:r>
            <a:r>
              <a:rPr lang="zh-TW" altLang="en-US"/>
              <a:t> </a:t>
            </a:r>
            <a:r>
              <a:rPr lang="en-US" altLang="zh-TW"/>
              <a:t>Interpolation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41CD1D-4F77-4305-8EF7-82AB666A3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b="0">
                <a:latin typeface="+mj-lt"/>
              </a:rPr>
              <a:t>Used to </a:t>
            </a:r>
            <a:r>
              <a:rPr lang="en-US" altLang="zh-TW" b="0">
                <a:solidFill>
                  <a:srgbClr val="FF0000"/>
                </a:solidFill>
                <a:latin typeface="+mj-lt"/>
              </a:rPr>
              <a:t>estimate data</a:t>
            </a:r>
            <a:r>
              <a:rPr lang="en-US" altLang="zh-TW" b="0">
                <a:latin typeface="+mj-lt"/>
              </a:rPr>
              <a:t> at unknown points based on known data at observed points.</a:t>
            </a:r>
          </a:p>
          <a:p>
            <a:pPr algn="just"/>
            <a:r>
              <a:rPr lang="en-US" altLang="zh-TW" b="0">
                <a:latin typeface="+mj-lt"/>
              </a:rPr>
              <a:t>Applicable to almost any problem where we need to know a value at every location in space, and we are confident that </a:t>
            </a:r>
            <a:r>
              <a:rPr lang="en-US" altLang="zh-TW" b="0">
                <a:solidFill>
                  <a:srgbClr val="FF0000"/>
                </a:solidFill>
                <a:latin typeface="+mj-lt"/>
              </a:rPr>
              <a:t>closer</a:t>
            </a:r>
            <a:r>
              <a:rPr lang="en-US" altLang="zh-TW" b="0">
                <a:latin typeface="+mj-lt"/>
              </a:rPr>
              <a:t> locations are more </a:t>
            </a:r>
            <a:r>
              <a:rPr lang="en-US" altLang="zh-TW" b="0">
                <a:solidFill>
                  <a:srgbClr val="FF0000"/>
                </a:solidFill>
                <a:latin typeface="+mj-lt"/>
              </a:rPr>
              <a:t>similar</a:t>
            </a:r>
            <a:r>
              <a:rPr lang="en-US" altLang="zh-TW" b="0">
                <a:latin typeface="+mj-lt"/>
              </a:rPr>
              <a:t>.</a:t>
            </a:r>
          </a:p>
          <a:p>
            <a:pPr algn="just"/>
            <a:r>
              <a:rPr lang="en-US" altLang="zh-TW" b="0">
                <a:latin typeface="+mj-lt"/>
              </a:rPr>
              <a:t>It can be used for mineral analysis, water saturation, population distribution, precipitation analysis, and more.</a:t>
            </a:r>
          </a:p>
          <a:p>
            <a:r>
              <a:rPr lang="en-US" altLang="zh-TW" b="0">
                <a:latin typeface="+mj-lt"/>
              </a:rPr>
              <a:t>Simple Kriging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–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solidFill>
                  <a:srgbClr val="FF0000"/>
                </a:solidFill>
                <a:latin typeface="+mj-lt"/>
              </a:rPr>
              <a:t>known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mean.</a:t>
            </a:r>
          </a:p>
          <a:p>
            <a:r>
              <a:rPr lang="en-US" altLang="zh-TW" b="0">
                <a:latin typeface="+mj-lt"/>
              </a:rPr>
              <a:t>Ordinary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Kriging –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unknown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mean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but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solidFill>
                  <a:srgbClr val="FF0000"/>
                </a:solidFill>
                <a:latin typeface="+mj-lt"/>
              </a:rPr>
              <a:t>constant</a:t>
            </a:r>
            <a:r>
              <a:rPr lang="en-US" altLang="zh-TW" b="0">
                <a:latin typeface="+mj-lt"/>
              </a:rPr>
              <a:t>.</a:t>
            </a:r>
          </a:p>
          <a:p>
            <a:r>
              <a:rPr lang="en-US" altLang="zh-TW" b="0">
                <a:latin typeface="+mj-lt"/>
              </a:rPr>
              <a:t>Universal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Kriging – m</a:t>
            </a:r>
            <a:r>
              <a:rPr lang="en-US" altLang="zh-TW" b="0"/>
              <a:t>ean varies smoothly via specified </a:t>
            </a:r>
            <a:r>
              <a:rPr lang="en-US" altLang="zh-TW" b="0">
                <a:solidFill>
                  <a:srgbClr val="FF0000"/>
                </a:solidFill>
              </a:rPr>
              <a:t>trend</a:t>
            </a:r>
            <a:r>
              <a:rPr lang="en-US" altLang="zh-TW" b="0"/>
              <a:t>.</a:t>
            </a:r>
            <a:endParaRPr lang="en-US" altLang="zh-TW" b="0">
              <a:latin typeface="+mj-lt"/>
            </a:endParaRPr>
          </a:p>
          <a:p>
            <a:r>
              <a:rPr lang="en-US" altLang="zh-TW" b="0">
                <a:latin typeface="+mj-lt"/>
              </a:rPr>
              <a:t>Co-Kriging – </a:t>
            </a:r>
            <a:r>
              <a:rPr lang="en-US" altLang="zh-TW" b="0">
                <a:solidFill>
                  <a:srgbClr val="FF0000"/>
                </a:solidFill>
                <a:latin typeface="+mj-lt"/>
              </a:rPr>
              <a:t>multiple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observed data.</a:t>
            </a:r>
            <a:endParaRPr lang="zh-TW" altLang="en-US" b="0">
              <a:latin typeface="+mj-lt"/>
            </a:endParaRPr>
          </a:p>
          <a:p>
            <a:pPr algn="just"/>
            <a:endParaRPr lang="zh-TW" altLang="en-US" b="0"/>
          </a:p>
        </p:txBody>
      </p:sp>
    </p:spTree>
    <p:extLst>
      <p:ext uri="{BB962C8B-B14F-4D97-AF65-F5344CB8AC3E}">
        <p14:creationId xmlns:p14="http://schemas.microsoft.com/office/powerpoint/2010/main" val="2914613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C431B-2438-4062-B6C5-81B97CEF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Universal</a:t>
            </a:r>
            <a:r>
              <a:rPr lang="zh-TW" altLang="en-US"/>
              <a:t> </a:t>
            </a:r>
            <a:r>
              <a:rPr lang="en-US" altLang="zh-TW"/>
              <a:t>Cokriging</a:t>
            </a:r>
            <a:r>
              <a:rPr lang="zh-TW" altLang="en-US"/>
              <a:t> </a:t>
            </a:r>
            <a:r>
              <a:rPr lang="en-US" altLang="zh-TW"/>
              <a:t>In</a:t>
            </a:r>
            <a:r>
              <a:rPr lang="zh-TW" altLang="en-US"/>
              <a:t> </a:t>
            </a:r>
            <a:r>
              <a:rPr lang="en-US" altLang="zh-TW"/>
              <a:t>GemPy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CE533AF-8025-4064-99F5-BDCCC66B73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3537" y="2112433"/>
                <a:ext cx="11463866" cy="42291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TW" altLang="en-US" b="0" i="1" u="none" strike="noStrike" baseline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TW" altLang="en-US" b="0" i="1" u="none" strike="noStrike" baseline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TW" b="0" i="0" u="none" strike="noStrike" baseline="0">
                    <a:latin typeface="+mj-lt"/>
                  </a:rPr>
                  <a:t>:</a:t>
                </a:r>
                <a:r>
                  <a:rPr lang="zh-TW" altLang="en-US" b="0" i="0" u="none" strike="noStrike" baseline="0">
                    <a:latin typeface="+mj-lt"/>
                  </a:rPr>
                  <a:t> </a:t>
                </a:r>
                <a:r>
                  <a:rPr lang="en-US" altLang="zh-TW" b="0" i="0" u="none" strike="noStrike" baseline="0">
                    <a:latin typeface="+mj-lt"/>
                  </a:rPr>
                  <a:t>the gradient covariance matrix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altLang="zh-TW" b="0" i="0" u="none" strike="noStrike" baseline="0">
                    <a:latin typeface="+mj-lt"/>
                  </a:rPr>
                  <a:t>:</a:t>
                </a:r>
                <a:r>
                  <a:rPr lang="zh-TW" altLang="en-US" b="0" i="0" u="none" strike="noStrike" baseline="0">
                    <a:latin typeface="+mj-lt"/>
                  </a:rPr>
                  <a:t> </a:t>
                </a:r>
                <a:r>
                  <a:rPr lang="en-US" altLang="zh-TW" b="0" i="0" u="none" strike="noStrike" baseline="0">
                    <a:latin typeface="+mj-lt"/>
                  </a:rPr>
                  <a:t>the</a:t>
                </a:r>
                <a:r>
                  <a:rPr lang="zh-TW" altLang="en-US" b="0" i="0" u="none" strike="noStrike" baseline="0">
                    <a:latin typeface="+mj-lt"/>
                  </a:rPr>
                  <a:t> </a:t>
                </a:r>
                <a:r>
                  <a:rPr lang="en-US" altLang="zh-TW" b="0" i="0" u="none" strike="noStrike" baseline="0">
                    <a:latin typeface="+mj-lt"/>
                  </a:rPr>
                  <a:t>covariance matrix of the differences between each interface</a:t>
                </a:r>
                <a:r>
                  <a:rPr lang="zh-TW" altLang="en-US" b="0" i="0" u="none" strike="noStrike" baseline="0">
                    <a:latin typeface="+mj-lt"/>
                  </a:rPr>
                  <a:t> </a:t>
                </a:r>
                <a:r>
                  <a:rPr lang="en-US" altLang="zh-TW" b="0" i="0" u="none" strike="noStrike" baseline="0">
                    <a:latin typeface="+mj-lt"/>
                  </a:rPr>
                  <a:t>point to</a:t>
                </a:r>
              </a:p>
              <a:p>
                <a:pPr marL="0" indent="0" algn="l">
                  <a:buNone/>
                </a:pPr>
                <a:r>
                  <a:rPr lang="zh-TW" altLang="en-US" b="0" i="0" u="none" strike="noStrike" baseline="0">
                    <a:latin typeface="+mj-lt"/>
                  </a:rPr>
                  <a:t>               </a:t>
                </a:r>
                <a:r>
                  <a:rPr lang="en-US" altLang="zh-TW" b="0" i="0" u="none" strike="noStrike" baseline="0">
                    <a:latin typeface="+mj-lt"/>
                  </a:rPr>
                  <a:t>reference points in each layer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zh-TW" altLang="en-US" b="0" i="1" u="none" strike="noStrike" baseline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TW" altLang="en-US" b="0" i="1" u="none" strike="noStrike" baseline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zh-TW" b="0" i="0" u="none" strike="noStrike" baseline="0">
                    <a:latin typeface="+mj-lt"/>
                  </a:rPr>
                  <a:t>:</a:t>
                </a:r>
                <a:r>
                  <a:rPr lang="zh-TW" altLang="en-US" b="0" i="0" u="none" strike="noStrike" baseline="0">
                    <a:latin typeface="+mj-lt"/>
                  </a:rPr>
                  <a:t> </a:t>
                </a:r>
                <a:r>
                  <a:rPr lang="en-US" altLang="zh-TW" b="0" i="0" u="none" strike="noStrike" baseline="0">
                    <a:latin typeface="+mj-lt"/>
                  </a:rPr>
                  <a:t>the </a:t>
                </a:r>
                <a:r>
                  <a:rPr lang="en-US" altLang="zh-TW" b="0">
                    <a:latin typeface="+mj-lt"/>
                  </a:rPr>
                  <a:t>cross-</a:t>
                </a:r>
                <a:r>
                  <a:rPr lang="en-US" altLang="zh-TW" b="0" i="0" u="none" strike="noStrike" baseline="0">
                    <a:latin typeface="+mj-lt"/>
                  </a:rPr>
                  <a:t>covariance matrix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altLang="zh-TW" b="0" i="1" u="none" strike="noStrike" baseline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b="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m:rPr>
                        <m:nor/>
                      </m:rPr>
                      <a:rPr lang="en-US" altLang="zh-TW" b="0">
                        <a:latin typeface="+mj-lt"/>
                      </a:rPr>
                      <m:t>:</m:t>
                    </m:r>
                    <m:r>
                      <a:rPr lang="zh-TW" altLang="en-US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b="0" dirty="0">
                    <a:latin typeface="+mj-lt"/>
                  </a:rPr>
                  <a:t>the drift functions and </a:t>
                </a:r>
                <a:r>
                  <a:rPr lang="en-US" altLang="zh-TW" b="0">
                    <a:latin typeface="+mj-lt"/>
                  </a:rPr>
                  <a:t>their gradients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TW" b="0" i="0" u="none" strike="noStrike" baseline="0">
                    <a:latin typeface="+mj-lt"/>
                  </a:rPr>
                  <a:t>:</a:t>
                </a:r>
                <a:r>
                  <a:rPr lang="zh-TW" altLang="en-US" b="0" i="0" u="none" strike="noStrike" baseline="0">
                    <a:latin typeface="+mj-lt"/>
                  </a:rPr>
                  <a:t> </a:t>
                </a:r>
                <a:r>
                  <a:rPr lang="en-US" altLang="zh-TW" b="0" i="0" u="none" strike="noStrike" baseline="0">
                    <a:latin typeface="+mj-lt"/>
                  </a:rPr>
                  <a:t>being the gradient of the covariance function to</a:t>
                </a:r>
                <a:r>
                  <a:rPr lang="zh-TW" altLang="en-US" b="0" i="0" u="none" strike="noStrike" baseline="0">
                    <a:latin typeface="+mj-lt"/>
                  </a:rPr>
                  <a:t> </a:t>
                </a:r>
                <a:r>
                  <a:rPr lang="en-US" altLang="zh-TW" b="0" i="0" u="none" strike="noStrike" baseline="0">
                    <a:latin typeface="+mj-lt"/>
                  </a:rPr>
                  <a:t>the point x of interest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altLang="zh-TW" b="0" i="0" u="none" strike="noStrike" baseline="0">
                    <a:latin typeface="+mj-lt"/>
                  </a:rPr>
                  <a:t>:</a:t>
                </a:r>
                <a:r>
                  <a:rPr lang="zh-TW" altLang="en-US" b="0" i="0" u="none" strike="noStrike" baseline="0">
                    <a:latin typeface="+mj-lt"/>
                  </a:rPr>
                  <a:t> </a:t>
                </a:r>
                <a:r>
                  <a:rPr lang="en-US" altLang="zh-TW" b="0" i="0" u="none" strike="noStrike" baseline="0">
                    <a:latin typeface="+mj-lt"/>
                  </a:rPr>
                  <a:t>the</a:t>
                </a:r>
                <a:r>
                  <a:rPr lang="zh-TW" altLang="en-US" b="0" i="0" u="none" strike="noStrike" baseline="0">
                    <a:latin typeface="+mj-lt"/>
                  </a:rPr>
                  <a:t> </a:t>
                </a:r>
                <a:r>
                  <a:rPr lang="en-US" altLang="zh-TW" b="0" i="0" u="none" strike="noStrike" baseline="0">
                    <a:latin typeface="+mj-lt"/>
                  </a:rPr>
                  <a:t>actual</a:t>
                </a:r>
                <a:r>
                  <a:rPr lang="zh-TW" altLang="en-US" b="0" i="0" u="none" strike="noStrike" baseline="0">
                    <a:latin typeface="+mj-lt"/>
                  </a:rPr>
                  <a:t> </a:t>
                </a:r>
                <a:r>
                  <a:rPr lang="en-US" altLang="zh-TW" b="0" i="0" u="none" strike="noStrike" baseline="0">
                    <a:latin typeface="+mj-lt"/>
                  </a:rPr>
                  <a:t>covariance</a:t>
                </a:r>
                <a:r>
                  <a:rPr lang="zh-TW" altLang="en-US" b="0" i="0" u="none" strike="noStrike" baseline="0">
                    <a:latin typeface="+mj-lt"/>
                  </a:rPr>
                  <a:t> </a:t>
                </a:r>
                <a:r>
                  <a:rPr lang="en-US" altLang="zh-TW" b="0" i="0" u="none" strike="noStrike" baseline="0">
                    <a:latin typeface="+mj-lt"/>
                  </a:rPr>
                  <a:t>function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zh-TW" altLang="en-US" b="0" i="1" u="none" strike="noStrike" baseline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TW" altLang="en-US" b="0" i="1" u="none" strike="noStrike" baseline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zh-TW" b="0" i="0" u="none" strike="noStrike" baseline="0">
                    <a:latin typeface="+mj-lt"/>
                  </a:rPr>
                  <a:t>:</a:t>
                </a:r>
                <a:r>
                  <a:rPr lang="zh-TW" altLang="en-US" b="0" i="0" u="none" strike="noStrike" baseline="0">
                    <a:latin typeface="+mj-lt"/>
                  </a:rPr>
                  <a:t> </a:t>
                </a:r>
                <a:r>
                  <a:rPr lang="en-US" altLang="zh-TW" b="0" dirty="0">
                    <a:latin typeface="+mj-lt"/>
                  </a:rPr>
                  <a:t>the cross-covariance</a:t>
                </a:r>
                <a:endParaRPr lang="en-US" altLang="zh-TW" b="0" i="0" u="none" strike="noStrike" baseline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b="0" i="1" u="none" strike="noStrike" baseline="0" smtClean="0">
                        <a:latin typeface="Cambria Math" panose="02040503050406030204" pitchFamily="18" charset="0"/>
                      </a:rPr>
                      <m:t>10, 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altLang="zh-TW" b="0" i="0" u="none" strike="noStrike" baseline="0">
                    <a:latin typeface="+mj-lt"/>
                  </a:rPr>
                  <a:t>:</a:t>
                </a:r>
                <a:r>
                  <a:rPr lang="zh-TW" altLang="en-US" b="0" i="0" u="none" strike="noStrike" baseline="0">
                    <a:latin typeface="+mj-lt"/>
                  </a:rPr>
                  <a:t> </a:t>
                </a:r>
                <a:r>
                  <a:rPr lang="en-US" altLang="zh-TW" b="0">
                    <a:latin typeface="+mj-lt"/>
                  </a:rPr>
                  <a:t>the gradient</a:t>
                </a:r>
                <a:r>
                  <a:rPr lang="zh-TW" altLang="en-US" b="0">
                    <a:latin typeface="+mj-lt"/>
                  </a:rPr>
                  <a:t> </a:t>
                </a:r>
                <a:r>
                  <a:rPr lang="en-US" altLang="zh-TW" b="0">
                    <a:latin typeface="+mj-lt"/>
                  </a:rPr>
                  <a:t>of </a:t>
                </a:r>
                <a:r>
                  <a:rPr lang="en-US" altLang="zh-TW" b="0" dirty="0">
                    <a:latin typeface="+mj-lt"/>
                  </a:rPr>
                  <a:t>the drift functions and the drift functions themselves</a:t>
                </a:r>
                <a:endParaRPr lang="en-US" altLang="zh-TW" b="0" i="0" u="none" strike="noStrike" baseline="0">
                  <a:latin typeface="+mj-lt"/>
                </a:endParaRPr>
              </a:p>
              <a:p>
                <a:endParaRPr lang="en-US" altLang="zh-TW" b="0" i="0" u="none" strike="noStrike" baseline="0">
                  <a:latin typeface="NimbusRomNo9L-Regu"/>
                </a:endParaRPr>
              </a:p>
              <a:p>
                <a:endParaRPr lang="en-US" altLang="zh-TW" b="0" i="0" u="none" strike="noStrike" baseline="0">
                  <a:latin typeface="NimbusRomNo9L-Regu"/>
                </a:endParaRPr>
              </a:p>
              <a:p>
                <a:pPr marL="0" indent="0" algn="l">
                  <a:buNone/>
                </a:pPr>
                <a:endParaRPr lang="en-US" altLang="zh-TW" b="0">
                  <a:latin typeface="NimbusRomNo9L-Regu"/>
                </a:endParaRPr>
              </a:p>
              <a:p>
                <a:pPr marL="0" indent="0" algn="l">
                  <a:buNone/>
                </a:pPr>
                <a:endParaRPr lang="en-US" altLang="zh-TW" b="0" i="0" u="none" strike="noStrike" baseline="0">
                  <a:latin typeface="NimbusRomNo9L-Regu"/>
                </a:endParaRPr>
              </a:p>
              <a:p>
                <a:pPr marL="0" indent="0" algn="l">
                  <a:buNone/>
                </a:pPr>
                <a:endParaRPr lang="zh-TW" altLang="en-US" sz="320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CE533AF-8025-4064-99F5-BDCCC66B7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3537" y="2112433"/>
                <a:ext cx="11463866" cy="4229100"/>
              </a:xfrm>
              <a:blipFill>
                <a:blip r:embed="rId2"/>
                <a:stretch>
                  <a:fillRect l="-106" t="-1876" b="-38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71AF5D6-52DE-4045-B07B-A4091712B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37" y="1005841"/>
            <a:ext cx="11464925" cy="111868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5AD1161-B518-49A5-9002-F534B153379B}"/>
              </a:ext>
            </a:extLst>
          </p:cNvPr>
          <p:cNvSpPr/>
          <p:nvPr/>
        </p:nvSpPr>
        <p:spPr>
          <a:xfrm>
            <a:off x="6915150" y="1005841"/>
            <a:ext cx="1129966" cy="11065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F0D911-385F-4EDA-A8C1-2B1E88BF681C}"/>
              </a:ext>
            </a:extLst>
          </p:cNvPr>
          <p:cNvSpPr/>
          <p:nvPr/>
        </p:nvSpPr>
        <p:spPr>
          <a:xfrm>
            <a:off x="10580771" y="1002879"/>
            <a:ext cx="1129966" cy="11065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3393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CE533AF-8025-4064-99F5-BDCCC66B73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zh-TW" b="0" i="0" u="none" strike="noStrike" baseline="0">
                    <a:latin typeface="+mn-lt"/>
                  </a:rPr>
                  <a:t>,</a:t>
                </a:r>
                <a:r>
                  <a:rPr lang="en-US" altLang="zh-TW" b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altLang="zh-TW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b="0" i="0" u="none" strike="noStrike" baseline="0">
                    <a:latin typeface="+mn-lt"/>
                  </a:rPr>
                  <a:t>,</a:t>
                </a:r>
                <a:r>
                  <a:rPr lang="en-US" altLang="zh-TW" b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b="0" i="1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zh-TW" altLang="en-US" b="0" i="0" u="none" strike="noStrike" baseline="0">
                    <a:latin typeface="+mn-lt"/>
                  </a:rPr>
                  <a:t> </a:t>
                </a:r>
                <a:r>
                  <a:rPr lang="en-US" altLang="zh-TW" b="0" i="0" u="none" strike="noStrike" baseline="0">
                    <a:latin typeface="+mn-lt"/>
                  </a:rPr>
                  <a:t>of</a:t>
                </a:r>
                <a:r>
                  <a:rPr lang="zh-TW" altLang="en-US" b="0" i="0" u="none" strike="noStrike" baseline="0">
                    <a:latin typeface="+mn-lt"/>
                  </a:rPr>
                  <a:t> </a:t>
                </a:r>
                <a:r>
                  <a:rPr lang="en-US" altLang="zh-TW" b="0" i="0" u="none" strike="noStrike" baseline="0">
                    <a:latin typeface="+mn-lt"/>
                  </a:rPr>
                  <a:t>RHS</a:t>
                </a:r>
                <a:r>
                  <a:rPr lang="zh-TW" altLang="en-US" b="0" i="0" u="none" strike="noStrike" baseline="0">
                    <a:latin typeface="+mn-lt"/>
                  </a:rPr>
                  <a:t> </a:t>
                </a:r>
                <a:r>
                  <a:rPr lang="en-US" altLang="zh-TW" b="0" i="0" u="none" strike="noStrike" baseline="0">
                    <a:latin typeface="+mn-lt"/>
                  </a:rPr>
                  <a:t>change</a:t>
                </a:r>
                <a:r>
                  <a:rPr lang="zh-TW" altLang="en-US" b="0" i="0" u="none" strike="noStrike" baseline="0">
                    <a:latin typeface="+mn-lt"/>
                  </a:rPr>
                  <a:t> </a:t>
                </a:r>
                <a:r>
                  <a:rPr lang="en-US" altLang="zh-TW" b="0" i="0" u="none" strike="noStrike" baseline="0">
                    <a:latin typeface="+mn-lt"/>
                  </a:rPr>
                  <a:t>with</a:t>
                </a:r>
                <a:r>
                  <a:rPr lang="zh-TW" altLang="en-US" b="0" i="0" u="none" strike="noStrike" baseline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calculated point.</a:t>
                </a:r>
              </a:p>
              <a:p>
                <a:pPr algn="just"/>
                <a:r>
                  <a:rPr lang="en-US" altLang="zh-TW" b="0">
                    <a:latin typeface="+mn-lt"/>
                  </a:rPr>
                  <a:t>For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each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calculated point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we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must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solve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the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whole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system.</a:t>
                </a:r>
                <a:endParaRPr lang="en-US" altLang="zh-TW" b="0" i="0" u="none" strike="noStrike" baseline="0">
                  <a:latin typeface="+mn-lt"/>
                </a:endParaRPr>
              </a:p>
              <a:p>
                <a:pPr algn="just"/>
                <a:r>
                  <a:rPr lang="en-US" altLang="zh-TW" b="0" i="0" u="none" strike="noStrike" baseline="0">
                    <a:latin typeface="+mn-lt"/>
                  </a:rPr>
                  <a:t>For</a:t>
                </a:r>
                <a:r>
                  <a:rPr lang="zh-TW" altLang="en-US" b="0" i="0" u="none" strike="noStrike" baseline="0">
                    <a:latin typeface="+mn-lt"/>
                  </a:rPr>
                  <a:t> </a:t>
                </a:r>
                <a:r>
                  <a:rPr lang="en-US" altLang="zh-TW" b="0" i="0" u="none" strike="noStrike" baseline="0">
                    <a:latin typeface="+mn-lt"/>
                  </a:rPr>
                  <a:t>this reason it is recommended to solve the system</a:t>
                </a:r>
                <a:r>
                  <a:rPr lang="zh-TW" altLang="en-US" b="0" i="0" u="none" strike="noStrike" baseline="0">
                    <a:latin typeface="+mn-lt"/>
                  </a:rPr>
                  <a:t> </a:t>
                </a:r>
                <a:r>
                  <a:rPr lang="en-US" altLang="zh-TW" b="0" i="0" u="none" strike="noStrike" baseline="0">
                    <a:latin typeface="+mn-lt"/>
                  </a:rPr>
                  <a:t>in its </a:t>
                </a:r>
                <a:r>
                  <a:rPr lang="en-US" altLang="zh-TW" b="0" i="0" u="none" strike="noStrike" baseline="0">
                    <a:solidFill>
                      <a:srgbClr val="FF0000"/>
                    </a:solidFill>
                    <a:latin typeface="+mn-lt"/>
                  </a:rPr>
                  <a:t>dual form</a:t>
                </a:r>
                <a:r>
                  <a:rPr lang="en-US" altLang="zh-TW" b="0" i="0" u="none" strike="noStrike" baseline="0">
                    <a:latin typeface="+mn-lt"/>
                  </a:rPr>
                  <a:t>.</a:t>
                </a:r>
              </a:p>
              <a:p>
                <a:pPr algn="just"/>
                <a:r>
                  <a:rPr lang="en-US" altLang="zh-TW" b="0">
                    <a:latin typeface="+mn-lt"/>
                  </a:rPr>
                  <a:t>Then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RHS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is independent of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the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calculated point.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Only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need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to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solve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system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once.</a:t>
                </a:r>
                <a:endParaRPr lang="zh-TW" altLang="en-US" b="0">
                  <a:latin typeface="+mn-lt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CE533AF-8025-4064-99F5-BDCCC66B7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" t="-1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標題 1">
            <a:extLst>
              <a:ext uri="{FF2B5EF4-FFF2-40B4-BE49-F238E27FC236}">
                <a16:creationId xmlns:a16="http://schemas.microsoft.com/office/drawing/2014/main" id="{900C53CA-F6FB-4B67-AECF-82A30D37B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550334"/>
          </a:xfrm>
        </p:spPr>
        <p:txBody>
          <a:bodyPr/>
          <a:lstStyle/>
          <a:p>
            <a:r>
              <a:rPr lang="en-US" altLang="zh-TW"/>
              <a:t>Dual</a:t>
            </a:r>
            <a:r>
              <a:rPr lang="zh-TW" altLang="en-US"/>
              <a:t> </a:t>
            </a:r>
            <a:r>
              <a:rPr lang="en-US" altLang="zh-TW"/>
              <a:t>form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14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CE533AF-8025-4064-99F5-BDCCC66B73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e>
                                <m:r>
                                  <a:rPr lang="en-US" altLang="zh-TW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altLang="zh-TW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lang="en-US" altLang="zh-TW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zh-TW" altLang="en-US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TW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∂</m:t>
                      </m:r>
                      <m:r>
                        <m:rPr>
                          <m:nor/>
                        </m:rPr>
                        <a:rPr lang="en-US" altLang="zh-TW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lang="zh-TW" alt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TW" altLang="zh-TW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∂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∂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en-US" altLang="zh-TW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TW" altLang="zh-TW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∂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en-US" altLang="zh-TW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lang="en-US" altLang="zh-TW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e>
                                    <m: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e>
                                    <m: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zh-TW" altLang="en-US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TW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TW" altLang="zh-TW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zh-TW" altLang="en-US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TW" b="0" dirty="0">
                  <a:solidFill>
                    <a:schemeClr val="tx1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zh-TW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TW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e>
                              <m:r>
                                <a:rPr lang="en-US" altLang="zh-TW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TW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m:rPr>
                                  <m:nor/>
                                </m:rPr>
                                <a:rPr lang="en-US" altLang="zh-TW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US" altLang="zh-TW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e>
                              <m:r>
                                <a:rPr lang="en-US" altLang="zh-TW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e>
                                  <m:r>
                                    <a:rPr lang="en-US" altLang="zh-TW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en-US" altLang="zh-TW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e>
                                  <m:r>
                                    <a:rPr lang="en-US" altLang="zh-TW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TW" altLang="en-US" b="0" dirty="0">
                    <a:solidFill>
                      <a:schemeClr val="tx1"/>
                    </a:solidFill>
                  </a:rPr>
                  <a:t>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TW" altLang="zh-TW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TW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e>
                                  <m:r>
                                    <a:rPr lang="en-US" altLang="zh-TW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TW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e>
                                  <m:r>
                                    <a:rPr lang="en-US" altLang="zh-TW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en-US" altLang="zh-TW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e>
                                  <m:r>
                                    <a:rPr lang="en-US" altLang="zh-TW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TW" altLang="zh-TW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∂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Z</m:t>
                                  </m:r>
                                  <m:r>
                                    <a:rPr lang="en-US" altLang="zh-TW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e>
                                  <m:r>
                                    <a:rPr lang="en-US" altLang="zh-TW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TW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TW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e>
                                <m:r>
                                  <a:rPr lang="en-US" altLang="zh-TW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altLang="zh-TW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lang="en-US" altLang="zh-TW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∂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TW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zh-TW" alt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sSub>
                        <m:sSubPr>
                          <m:ctrlP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TW" altLang="zh-TW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TW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CE533AF-8025-4064-99F5-BDCCC66B7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08B8A1F1-DEF0-4702-912C-1BE9FC6D3597}"/>
              </a:ext>
            </a:extLst>
          </p:cNvPr>
          <p:cNvSpPr/>
          <p:nvPr/>
        </p:nvSpPr>
        <p:spPr>
          <a:xfrm>
            <a:off x="4781550" y="4501014"/>
            <a:ext cx="2628900" cy="1531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6244232-A133-4237-8970-0640C804BF9A}"/>
              </a:ext>
            </a:extLst>
          </p:cNvPr>
          <p:cNvSpPr txBox="1"/>
          <p:nvPr/>
        </p:nvSpPr>
        <p:spPr>
          <a:xfrm>
            <a:off x="5577020" y="5972785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dual</a:t>
            </a:r>
            <a:r>
              <a:rPr lang="zh-TW" altLang="en-US">
                <a:solidFill>
                  <a:srgbClr val="FF0000"/>
                </a:solidFill>
              </a:rPr>
              <a:t> </a:t>
            </a:r>
            <a:r>
              <a:rPr lang="en-US" altLang="zh-TW">
                <a:solidFill>
                  <a:srgbClr val="FF0000"/>
                </a:solidFill>
              </a:rPr>
              <a:t>form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98D5E315-AE5E-4A80-B2E5-7EC1FEF81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550334"/>
          </a:xfrm>
        </p:spPr>
        <p:txBody>
          <a:bodyPr/>
          <a:lstStyle/>
          <a:p>
            <a:r>
              <a:rPr lang="en-US" altLang="zh-TW"/>
              <a:t>Dual</a:t>
            </a:r>
            <a:r>
              <a:rPr lang="zh-TW" altLang="en-US"/>
              <a:t> </a:t>
            </a:r>
            <a:r>
              <a:rPr lang="en-US" altLang="zh-TW"/>
              <a:t>form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8211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6D9E2F-AE3A-DA38-6DFF-9A3C50D65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Calculate</a:t>
            </a:r>
            <a:r>
              <a:rPr lang="zh-TW" altLang="en-US"/>
              <a:t> </a:t>
            </a:r>
            <a:r>
              <a:rPr lang="en-US" altLang="zh-TW"/>
              <a:t>Flow</a:t>
            </a:r>
            <a:r>
              <a:rPr lang="zh-TW" altLang="en-US"/>
              <a:t>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9A34FED-DEEF-7C25-BC44-8E9A82F354B7}"/>
              </a:ext>
            </a:extLst>
          </p:cNvPr>
          <p:cNvSpPr txBox="1"/>
          <p:nvPr/>
        </p:nvSpPr>
        <p:spPr>
          <a:xfrm>
            <a:off x="461960" y="1009264"/>
            <a:ext cx="4139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Interface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coordinate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AD840F7-C65B-EA89-0BBE-D90B98BDE3C5}"/>
              </a:ext>
            </a:extLst>
          </p:cNvPr>
          <p:cNvSpPr txBox="1"/>
          <p:nvPr/>
        </p:nvSpPr>
        <p:spPr>
          <a:xfrm>
            <a:off x="1542366" y="1978966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SRT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transform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E020B6C-D038-FB0B-AF5B-6410A8CA8A0D}"/>
              </a:ext>
            </a:extLst>
          </p:cNvPr>
          <p:cNvSpPr txBox="1"/>
          <p:nvPr/>
        </p:nvSpPr>
        <p:spPr>
          <a:xfrm>
            <a:off x="4510085" y="1024117"/>
            <a:ext cx="4139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Orientation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coordinate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7F3D4A7-0371-988E-9F3E-80360E6BD38E}"/>
              </a:ext>
            </a:extLst>
          </p:cNvPr>
          <p:cNvSpPr txBox="1"/>
          <p:nvPr/>
        </p:nvSpPr>
        <p:spPr>
          <a:xfrm>
            <a:off x="790529" y="3001034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C_Z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F0DF9DC-60CB-A878-3DD4-C7C0D56B4CFA}"/>
              </a:ext>
            </a:extLst>
          </p:cNvPr>
          <p:cNvSpPr txBox="1"/>
          <p:nvPr/>
        </p:nvSpPr>
        <p:spPr>
          <a:xfrm>
            <a:off x="4096254" y="2989489"/>
            <a:ext cx="1009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C_GZ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AE5EADE-51D8-B628-6359-E3C8D521766E}"/>
              </a:ext>
            </a:extLst>
          </p:cNvPr>
          <p:cNvSpPr txBox="1"/>
          <p:nvPr/>
        </p:nvSpPr>
        <p:spPr>
          <a:xfrm>
            <a:off x="6319205" y="3001034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C_G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37B7931-4B14-9106-36A1-541153C6930B}"/>
              </a:ext>
            </a:extLst>
          </p:cNvPr>
          <p:cNvSpPr txBox="1"/>
          <p:nvPr/>
        </p:nvSpPr>
        <p:spPr>
          <a:xfrm>
            <a:off x="5590493" y="1983430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SRT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transform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CF2518-667A-F024-BF4B-ABEF86C80E27}"/>
              </a:ext>
            </a:extLst>
          </p:cNvPr>
          <p:cNvSpPr/>
          <p:nvPr/>
        </p:nvSpPr>
        <p:spPr>
          <a:xfrm>
            <a:off x="1566859" y="1983430"/>
            <a:ext cx="1919292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2CBFFA-1ACE-0C34-7D07-16A314962F03}"/>
              </a:ext>
            </a:extLst>
          </p:cNvPr>
          <p:cNvSpPr/>
          <p:nvPr/>
        </p:nvSpPr>
        <p:spPr>
          <a:xfrm>
            <a:off x="5618129" y="1978966"/>
            <a:ext cx="1923206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13130D-E9B0-C79C-E86C-12A568B471EB}"/>
              </a:ext>
            </a:extLst>
          </p:cNvPr>
          <p:cNvSpPr/>
          <p:nvPr/>
        </p:nvSpPr>
        <p:spPr>
          <a:xfrm>
            <a:off x="1453875" y="3009198"/>
            <a:ext cx="651788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997517B-4ADD-EA3E-84A5-7E82934104CA}"/>
              </a:ext>
            </a:extLst>
          </p:cNvPr>
          <p:cNvSpPr/>
          <p:nvPr/>
        </p:nvSpPr>
        <p:spPr>
          <a:xfrm>
            <a:off x="4182830" y="3002216"/>
            <a:ext cx="836845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C8DD46-E47D-B0E7-C96F-2A17FFA3B161}"/>
              </a:ext>
            </a:extLst>
          </p:cNvPr>
          <p:cNvSpPr/>
          <p:nvPr/>
        </p:nvSpPr>
        <p:spPr>
          <a:xfrm>
            <a:off x="6961230" y="3001034"/>
            <a:ext cx="67150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2E175CD-DA59-9AF9-AF83-E9218D999DDA}"/>
              </a:ext>
            </a:extLst>
          </p:cNvPr>
          <p:cNvSpPr txBox="1"/>
          <p:nvPr/>
        </p:nvSpPr>
        <p:spPr>
          <a:xfrm>
            <a:off x="3612010" y="4038127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K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2930716-8DE4-FD9A-C708-34C1143F1133}"/>
              </a:ext>
            </a:extLst>
          </p:cNvPr>
          <p:cNvSpPr txBox="1"/>
          <p:nvPr/>
        </p:nvSpPr>
        <p:spPr>
          <a:xfrm>
            <a:off x="9206584" y="4038126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b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3FE546A-B1D1-FDA9-5709-68C8E84CADF5}"/>
              </a:ext>
            </a:extLst>
          </p:cNvPr>
          <p:cNvSpPr txBox="1"/>
          <p:nvPr/>
        </p:nvSpPr>
        <p:spPr>
          <a:xfrm>
            <a:off x="6577262" y="4959755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w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84A1BA7-5ADC-0F86-2266-AA254C07DC10}"/>
              </a:ext>
            </a:extLst>
          </p:cNvPr>
          <p:cNvSpPr/>
          <p:nvPr/>
        </p:nvSpPr>
        <p:spPr>
          <a:xfrm>
            <a:off x="4442045" y="4044538"/>
            <a:ext cx="318414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17C66C-C475-B310-F68D-579A1747ACCB}"/>
              </a:ext>
            </a:extLst>
          </p:cNvPr>
          <p:cNvSpPr/>
          <p:nvPr/>
        </p:nvSpPr>
        <p:spPr>
          <a:xfrm>
            <a:off x="10036616" y="4038126"/>
            <a:ext cx="318414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24E8B9-0553-0399-E035-91BF57D94489}"/>
              </a:ext>
            </a:extLst>
          </p:cNvPr>
          <p:cNvSpPr/>
          <p:nvPr/>
        </p:nvSpPr>
        <p:spPr>
          <a:xfrm>
            <a:off x="7407295" y="4974609"/>
            <a:ext cx="318414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8935968A-A8D8-0A5B-2FF8-EFBAEB56CCCA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526505" y="1470929"/>
            <a:ext cx="1" cy="512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8DA67697-51EE-4D76-2467-3C96C8AF28F8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1779769" y="2445095"/>
            <a:ext cx="746736" cy="564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D7554683-998C-934F-BAD2-A1FB12D813A9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579731" y="1470928"/>
            <a:ext cx="1" cy="508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17A59CDD-3381-579B-D91A-FD8FFBF16D84}"/>
              </a:ext>
            </a:extLst>
          </p:cNvPr>
          <p:cNvCxnSpPr>
            <a:stCxn id="17" idx="2"/>
            <a:endCxn id="20" idx="0"/>
          </p:cNvCxnSpPr>
          <p:nvPr/>
        </p:nvCxnSpPr>
        <p:spPr>
          <a:xfrm>
            <a:off x="6579732" y="2440631"/>
            <a:ext cx="717253" cy="56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F06F4060-AA69-F8AB-EFAE-3544078D52FF}"/>
              </a:ext>
            </a:extLst>
          </p:cNvPr>
          <p:cNvCxnSpPr>
            <a:stCxn id="19" idx="2"/>
            <a:endCxn id="24" idx="0"/>
          </p:cNvCxnSpPr>
          <p:nvPr/>
        </p:nvCxnSpPr>
        <p:spPr>
          <a:xfrm flipH="1">
            <a:off x="4601252" y="3463881"/>
            <a:ext cx="1" cy="580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B0C5CA14-22FF-CB82-C112-0B241CB29BDB}"/>
              </a:ext>
            </a:extLst>
          </p:cNvPr>
          <p:cNvCxnSpPr>
            <a:cxnSpLocks/>
            <a:stCxn id="18" idx="2"/>
            <a:endCxn id="24" idx="1"/>
          </p:cNvCxnSpPr>
          <p:nvPr/>
        </p:nvCxnSpPr>
        <p:spPr>
          <a:xfrm>
            <a:off x="1779769" y="3470863"/>
            <a:ext cx="2662276" cy="804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7D25E318-2D38-6108-FFCA-824FCC457AFF}"/>
              </a:ext>
            </a:extLst>
          </p:cNvPr>
          <p:cNvCxnSpPr>
            <a:cxnSpLocks/>
            <a:stCxn id="20" idx="2"/>
            <a:endCxn id="24" idx="3"/>
          </p:cNvCxnSpPr>
          <p:nvPr/>
        </p:nvCxnSpPr>
        <p:spPr>
          <a:xfrm flipH="1">
            <a:off x="4760459" y="3462699"/>
            <a:ext cx="2536526" cy="812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BD5E5C36-B5A3-491A-645E-0CBFE1DBC7AA}"/>
              </a:ext>
            </a:extLst>
          </p:cNvPr>
          <p:cNvSpPr txBox="1"/>
          <p:nvPr/>
        </p:nvSpPr>
        <p:spPr>
          <a:xfrm>
            <a:off x="8934232" y="1024117"/>
            <a:ext cx="24658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Orientation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data</a:t>
            </a:r>
            <a:endParaRPr lang="zh-TW" altLang="en-US" sz="2400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C33DBF13-629E-CA70-E8E4-8ACF3F00C844}"/>
              </a:ext>
            </a:extLst>
          </p:cNvPr>
          <p:cNvSpPr/>
          <p:nvPr/>
        </p:nvSpPr>
        <p:spPr>
          <a:xfrm>
            <a:off x="9158960" y="1024117"/>
            <a:ext cx="2073728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0B7BDABB-F6E0-65EC-40CB-577E5293A13F}"/>
              </a:ext>
            </a:extLst>
          </p:cNvPr>
          <p:cNvCxnSpPr>
            <a:stCxn id="77" idx="2"/>
            <a:endCxn id="22" idx="0"/>
          </p:cNvCxnSpPr>
          <p:nvPr/>
        </p:nvCxnSpPr>
        <p:spPr>
          <a:xfrm>
            <a:off x="10195824" y="1485782"/>
            <a:ext cx="0" cy="2552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499EA7DE-88C2-FACC-B75B-6346CC5061DB}"/>
              </a:ext>
            </a:extLst>
          </p:cNvPr>
          <p:cNvCxnSpPr>
            <a:stCxn id="24" idx="2"/>
            <a:endCxn id="26" idx="1"/>
          </p:cNvCxnSpPr>
          <p:nvPr/>
        </p:nvCxnSpPr>
        <p:spPr>
          <a:xfrm>
            <a:off x="4601252" y="4506203"/>
            <a:ext cx="2806043" cy="699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7F664DDB-184C-0687-EE27-3D8A34489A12}"/>
              </a:ext>
            </a:extLst>
          </p:cNvPr>
          <p:cNvCxnSpPr>
            <a:stCxn id="25" idx="2"/>
            <a:endCxn id="26" idx="3"/>
          </p:cNvCxnSpPr>
          <p:nvPr/>
        </p:nvCxnSpPr>
        <p:spPr>
          <a:xfrm flipH="1">
            <a:off x="7725709" y="4499791"/>
            <a:ext cx="2470114" cy="70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1734D193-AC4A-F310-9383-B5627E835411}"/>
              </a:ext>
            </a:extLst>
          </p:cNvPr>
          <p:cNvSpPr/>
          <p:nvPr/>
        </p:nvSpPr>
        <p:spPr>
          <a:xfrm>
            <a:off x="3035234" y="3006680"/>
            <a:ext cx="47387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29235263-B59F-5396-694C-CB1E814CF084}"/>
              </a:ext>
            </a:extLst>
          </p:cNvPr>
          <p:cNvSpPr txBox="1"/>
          <p:nvPr/>
        </p:nvSpPr>
        <p:spPr>
          <a:xfrm>
            <a:off x="2962176" y="2993953"/>
            <a:ext cx="651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lang="en-US" altLang="zh-TW" sz="2400" baseline="-25000">
                <a:solidFill>
                  <a:schemeClr val="accent1">
                    <a:lumMod val="75000"/>
                  </a:schemeClr>
                </a:solidFill>
              </a:rPr>
              <a:t>Z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066C7B2D-6C3D-D272-5FCA-EC290BE87BC8}"/>
              </a:ext>
            </a:extLst>
          </p:cNvPr>
          <p:cNvCxnSpPr>
            <a:stCxn id="16" idx="2"/>
            <a:endCxn id="104" idx="0"/>
          </p:cNvCxnSpPr>
          <p:nvPr/>
        </p:nvCxnSpPr>
        <p:spPr>
          <a:xfrm>
            <a:off x="2526505" y="2445095"/>
            <a:ext cx="761565" cy="548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單箭頭接點 116">
            <a:extLst>
              <a:ext uri="{FF2B5EF4-FFF2-40B4-BE49-F238E27FC236}">
                <a16:creationId xmlns:a16="http://schemas.microsoft.com/office/drawing/2014/main" id="{AD6A10DD-E5CA-FF28-ADFC-DA6573410366}"/>
              </a:ext>
            </a:extLst>
          </p:cNvPr>
          <p:cNvCxnSpPr>
            <a:stCxn id="104" idx="2"/>
          </p:cNvCxnSpPr>
          <p:nvPr/>
        </p:nvCxnSpPr>
        <p:spPr>
          <a:xfrm>
            <a:off x="3288070" y="3455618"/>
            <a:ext cx="1153975" cy="819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CC3CD21B-1759-FC77-D125-D931A597167E}"/>
              </a:ext>
            </a:extLst>
          </p:cNvPr>
          <p:cNvSpPr txBox="1"/>
          <p:nvPr/>
        </p:nvSpPr>
        <p:spPr>
          <a:xfrm>
            <a:off x="2047302" y="4042365"/>
            <a:ext cx="973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extent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635EE375-E301-2655-B3A0-AA34186C3447}"/>
              </a:ext>
            </a:extLst>
          </p:cNvPr>
          <p:cNvSpPr txBox="1"/>
          <p:nvPr/>
        </p:nvSpPr>
        <p:spPr>
          <a:xfrm>
            <a:off x="1770187" y="4974608"/>
            <a:ext cx="151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resolution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B5654FD4-CE4A-92F8-7A96-F400B523FFD5}"/>
              </a:ext>
            </a:extLst>
          </p:cNvPr>
          <p:cNvSpPr txBox="1"/>
          <p:nvPr/>
        </p:nvSpPr>
        <p:spPr>
          <a:xfrm>
            <a:off x="4135026" y="4959940"/>
            <a:ext cx="932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grid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9CF3F537-7A41-802A-A6BB-7D6A44FBEBE8}"/>
              </a:ext>
            </a:extLst>
          </p:cNvPr>
          <p:cNvSpPr/>
          <p:nvPr/>
        </p:nvSpPr>
        <p:spPr>
          <a:xfrm>
            <a:off x="4307491" y="4969714"/>
            <a:ext cx="587514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874DAB5A-8D3C-3F8F-EEB7-CDB397F6750B}"/>
              </a:ext>
            </a:extLst>
          </p:cNvPr>
          <p:cNvSpPr txBox="1"/>
          <p:nvPr/>
        </p:nvSpPr>
        <p:spPr>
          <a:xfrm>
            <a:off x="3612008" y="5873457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SRT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transform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E27FF09F-108B-ACD9-B0DB-48BDA17503A7}"/>
              </a:ext>
            </a:extLst>
          </p:cNvPr>
          <p:cNvSpPr/>
          <p:nvPr/>
        </p:nvSpPr>
        <p:spPr>
          <a:xfrm>
            <a:off x="3641601" y="5879868"/>
            <a:ext cx="1919292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BA1119EE-BFD9-1E36-3428-AAB3C095763B}"/>
              </a:ext>
            </a:extLst>
          </p:cNvPr>
          <p:cNvSpPr txBox="1"/>
          <p:nvPr/>
        </p:nvSpPr>
        <p:spPr>
          <a:xfrm>
            <a:off x="6754020" y="5873455"/>
            <a:ext cx="162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Scalar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field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6728730B-9907-278B-DBEB-B116E7D5B121}"/>
              </a:ext>
            </a:extLst>
          </p:cNvPr>
          <p:cNvSpPr/>
          <p:nvPr/>
        </p:nvSpPr>
        <p:spPr>
          <a:xfrm>
            <a:off x="6807559" y="5873455"/>
            <a:ext cx="151788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03F92CA2-D2A3-BC15-160D-B5EF5A20B173}"/>
              </a:ext>
            </a:extLst>
          </p:cNvPr>
          <p:cNvSpPr/>
          <p:nvPr/>
        </p:nvSpPr>
        <p:spPr>
          <a:xfrm>
            <a:off x="2121310" y="4042366"/>
            <a:ext cx="82522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5C85CE42-B40C-771A-59DD-92D53B63E00F}"/>
              </a:ext>
            </a:extLst>
          </p:cNvPr>
          <p:cNvSpPr/>
          <p:nvPr/>
        </p:nvSpPr>
        <p:spPr>
          <a:xfrm>
            <a:off x="1873835" y="4969714"/>
            <a:ext cx="130533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單箭頭接點 132">
            <a:extLst>
              <a:ext uri="{FF2B5EF4-FFF2-40B4-BE49-F238E27FC236}">
                <a16:creationId xmlns:a16="http://schemas.microsoft.com/office/drawing/2014/main" id="{DA9726AF-3846-9BDD-6D9E-0588A759B1CF}"/>
              </a:ext>
            </a:extLst>
          </p:cNvPr>
          <p:cNvCxnSpPr>
            <a:stCxn id="124" idx="2"/>
            <a:endCxn id="127" idx="0"/>
          </p:cNvCxnSpPr>
          <p:nvPr/>
        </p:nvCxnSpPr>
        <p:spPr>
          <a:xfrm flipH="1">
            <a:off x="4601247" y="5431379"/>
            <a:ext cx="1" cy="448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單箭頭接點 136">
            <a:extLst>
              <a:ext uri="{FF2B5EF4-FFF2-40B4-BE49-F238E27FC236}">
                <a16:creationId xmlns:a16="http://schemas.microsoft.com/office/drawing/2014/main" id="{BB341FD9-685A-1680-BC1F-F1AB138DDDE5}"/>
              </a:ext>
            </a:extLst>
          </p:cNvPr>
          <p:cNvCxnSpPr>
            <a:cxnSpLocks/>
            <a:stCxn id="126" idx="3"/>
            <a:endCxn id="129" idx="1"/>
          </p:cNvCxnSpPr>
          <p:nvPr/>
        </p:nvCxnSpPr>
        <p:spPr>
          <a:xfrm flipV="1">
            <a:off x="5590487" y="6104288"/>
            <a:ext cx="121707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>
            <a:extLst>
              <a:ext uri="{FF2B5EF4-FFF2-40B4-BE49-F238E27FC236}">
                <a16:creationId xmlns:a16="http://schemas.microsoft.com/office/drawing/2014/main" id="{0095AF3C-F144-F935-2CDF-9340B048CE7D}"/>
              </a:ext>
            </a:extLst>
          </p:cNvPr>
          <p:cNvCxnSpPr>
            <a:stCxn id="130" idx="3"/>
            <a:endCxn id="124" idx="1"/>
          </p:cNvCxnSpPr>
          <p:nvPr/>
        </p:nvCxnSpPr>
        <p:spPr>
          <a:xfrm>
            <a:off x="2946530" y="4273199"/>
            <a:ext cx="1360961" cy="927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單箭頭接點 145">
            <a:extLst>
              <a:ext uri="{FF2B5EF4-FFF2-40B4-BE49-F238E27FC236}">
                <a16:creationId xmlns:a16="http://schemas.microsoft.com/office/drawing/2014/main" id="{572C2EA4-2AF7-284E-9CD8-15DED361361E}"/>
              </a:ext>
            </a:extLst>
          </p:cNvPr>
          <p:cNvCxnSpPr>
            <a:stCxn id="131" idx="3"/>
            <a:endCxn id="124" idx="1"/>
          </p:cNvCxnSpPr>
          <p:nvPr/>
        </p:nvCxnSpPr>
        <p:spPr>
          <a:xfrm>
            <a:off x="3179174" y="5200547"/>
            <a:ext cx="11283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單箭頭接點 147">
            <a:extLst>
              <a:ext uri="{FF2B5EF4-FFF2-40B4-BE49-F238E27FC236}">
                <a16:creationId xmlns:a16="http://schemas.microsoft.com/office/drawing/2014/main" id="{E0D7C87E-182D-154B-5D19-D8D610C7708B}"/>
              </a:ext>
            </a:extLst>
          </p:cNvPr>
          <p:cNvCxnSpPr>
            <a:stCxn id="26" idx="2"/>
            <a:endCxn id="129" idx="0"/>
          </p:cNvCxnSpPr>
          <p:nvPr/>
        </p:nvCxnSpPr>
        <p:spPr>
          <a:xfrm flipH="1">
            <a:off x="7566501" y="5436274"/>
            <a:ext cx="1" cy="437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>
            <a:extLst>
              <a:ext uri="{FF2B5EF4-FFF2-40B4-BE49-F238E27FC236}">
                <a16:creationId xmlns:a16="http://schemas.microsoft.com/office/drawing/2014/main" id="{54BDA60B-3056-703F-9328-88F0F7D5A8BA}"/>
              </a:ext>
            </a:extLst>
          </p:cNvPr>
          <p:cNvSpPr/>
          <p:nvPr/>
        </p:nvSpPr>
        <p:spPr>
          <a:xfrm>
            <a:off x="9786238" y="5873454"/>
            <a:ext cx="832935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8A3CCE89-AC00-EFDA-5BFF-09B6C669C9F9}"/>
              </a:ext>
            </a:extLst>
          </p:cNvPr>
          <p:cNvSpPr txBox="1"/>
          <p:nvPr/>
        </p:nvSpPr>
        <p:spPr>
          <a:xfrm>
            <a:off x="9383343" y="5873454"/>
            <a:ext cx="162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labels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61" name="直線單箭頭接點 160">
            <a:extLst>
              <a:ext uri="{FF2B5EF4-FFF2-40B4-BE49-F238E27FC236}">
                <a16:creationId xmlns:a16="http://schemas.microsoft.com/office/drawing/2014/main" id="{D40A7D32-BEF3-653C-9764-C0CBC4FAFC50}"/>
              </a:ext>
            </a:extLst>
          </p:cNvPr>
          <p:cNvCxnSpPr>
            <a:cxnSpLocks/>
            <a:stCxn id="129" idx="3"/>
          </p:cNvCxnSpPr>
          <p:nvPr/>
        </p:nvCxnSpPr>
        <p:spPr>
          <a:xfrm>
            <a:off x="8325442" y="6104288"/>
            <a:ext cx="1453913" cy="6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FACDD3E2-889A-4D1F-0549-0696E0CD97D2}"/>
              </a:ext>
            </a:extLst>
          </p:cNvPr>
          <p:cNvSpPr txBox="1"/>
          <p:nvPr/>
        </p:nvSpPr>
        <p:spPr>
          <a:xfrm>
            <a:off x="5172623" y="2991969"/>
            <a:ext cx="1390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lang="zh-TW" altLang="en-US" sz="2400" b="0" i="0" baseline="-25000">
                <a:solidFill>
                  <a:schemeClr val="accent1">
                    <a:lumMod val="75000"/>
                  </a:schemeClr>
                </a:solidFill>
                <a:effectLst/>
              </a:rPr>
              <a:t> ∂</a:t>
            </a:r>
            <a:r>
              <a:rPr lang="en-US" altLang="zh-TW" sz="2400" baseline="-25000">
                <a:solidFill>
                  <a:schemeClr val="accent1">
                    <a:lumMod val="75000"/>
                  </a:schemeClr>
                </a:solidFill>
              </a:rPr>
              <a:t>Z/</a:t>
            </a:r>
            <a:r>
              <a:rPr lang="zh-TW" altLang="en-US" sz="2400" b="0" i="0" baseline="-25000">
                <a:solidFill>
                  <a:schemeClr val="accent1">
                    <a:lumMod val="75000"/>
                  </a:schemeClr>
                </a:solidFill>
                <a:effectLst/>
              </a:rPr>
              <a:t> ∂</a:t>
            </a:r>
            <a:r>
              <a:rPr lang="en-US" altLang="zh-TW" sz="2400" b="0" i="0" baseline="-25000">
                <a:solidFill>
                  <a:schemeClr val="accent1">
                    <a:lumMod val="75000"/>
                  </a:schemeClr>
                </a:solidFill>
                <a:effectLst/>
              </a:rPr>
              <a:t>u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F60BE65C-D9AD-D61E-B7D7-85F10CC3689C}"/>
              </a:ext>
            </a:extLst>
          </p:cNvPr>
          <p:cNvSpPr/>
          <p:nvPr/>
        </p:nvSpPr>
        <p:spPr>
          <a:xfrm>
            <a:off x="5432846" y="3011718"/>
            <a:ext cx="88635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9" name="直線單箭頭接點 168">
            <a:extLst>
              <a:ext uri="{FF2B5EF4-FFF2-40B4-BE49-F238E27FC236}">
                <a16:creationId xmlns:a16="http://schemas.microsoft.com/office/drawing/2014/main" id="{EF11F3D5-D51A-F6F4-7C1D-7E0F9050F138}"/>
              </a:ext>
            </a:extLst>
          </p:cNvPr>
          <p:cNvCxnSpPr>
            <a:cxnSpLocks/>
            <a:stCxn id="167" idx="2"/>
            <a:endCxn id="24" idx="3"/>
          </p:cNvCxnSpPr>
          <p:nvPr/>
        </p:nvCxnSpPr>
        <p:spPr>
          <a:xfrm flipH="1">
            <a:off x="4760459" y="3473383"/>
            <a:ext cx="1115567" cy="801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單箭頭接點 179">
            <a:extLst>
              <a:ext uri="{FF2B5EF4-FFF2-40B4-BE49-F238E27FC236}">
                <a16:creationId xmlns:a16="http://schemas.microsoft.com/office/drawing/2014/main" id="{A7CF825C-E35A-8AB2-30E9-223DBD03A3C5}"/>
              </a:ext>
            </a:extLst>
          </p:cNvPr>
          <p:cNvCxnSpPr>
            <a:stCxn id="17" idx="2"/>
            <a:endCxn id="167" idx="0"/>
          </p:cNvCxnSpPr>
          <p:nvPr/>
        </p:nvCxnSpPr>
        <p:spPr>
          <a:xfrm flipH="1">
            <a:off x="5876026" y="2440631"/>
            <a:ext cx="703706" cy="57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接點 189">
            <a:extLst>
              <a:ext uri="{FF2B5EF4-FFF2-40B4-BE49-F238E27FC236}">
                <a16:creationId xmlns:a16="http://schemas.microsoft.com/office/drawing/2014/main" id="{20127A20-C552-8A64-5C43-10AAEB6F2DD4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3486151" y="2209799"/>
            <a:ext cx="2131978" cy="4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單箭頭接點 191">
            <a:extLst>
              <a:ext uri="{FF2B5EF4-FFF2-40B4-BE49-F238E27FC236}">
                <a16:creationId xmlns:a16="http://schemas.microsoft.com/office/drawing/2014/main" id="{EEAE5D97-6B89-C6D9-CFCB-54C4D41DCAD3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4601247" y="2209799"/>
            <a:ext cx="6" cy="792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線單箭頭接點 194">
            <a:extLst>
              <a:ext uri="{FF2B5EF4-FFF2-40B4-BE49-F238E27FC236}">
                <a16:creationId xmlns:a16="http://schemas.microsoft.com/office/drawing/2014/main" id="{9DEA0E2A-FBD3-400A-F3DB-9CA831448791}"/>
              </a:ext>
            </a:extLst>
          </p:cNvPr>
          <p:cNvCxnSpPr>
            <a:endCxn id="129" idx="1"/>
          </p:cNvCxnSpPr>
          <p:nvPr/>
        </p:nvCxnSpPr>
        <p:spPr>
          <a:xfrm>
            <a:off x="4601247" y="2209799"/>
            <a:ext cx="2206312" cy="3894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B61C52ED-C895-82F3-3D76-505D3768AA6F}"/>
              </a:ext>
            </a:extLst>
          </p:cNvPr>
          <p:cNvSpPr/>
          <p:nvPr/>
        </p:nvSpPr>
        <p:spPr>
          <a:xfrm>
            <a:off x="1216478" y="1009264"/>
            <a:ext cx="2620205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9181D6-F1C2-0CE7-5315-3B2E0309FAE3}"/>
              </a:ext>
            </a:extLst>
          </p:cNvPr>
          <p:cNvSpPr/>
          <p:nvPr/>
        </p:nvSpPr>
        <p:spPr>
          <a:xfrm>
            <a:off x="5146710" y="1009263"/>
            <a:ext cx="287061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393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53449BC-6653-45FE-A16E-6387F1D7692B}"/>
                  </a:ext>
                </a:extLst>
              </p:cNvPr>
              <p:cNvSpPr txBox="1"/>
              <p:nvPr/>
            </p:nvSpPr>
            <p:spPr>
              <a:xfrm>
                <a:off x="4018316" y="1066801"/>
                <a:ext cx="41553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𝑜𝑖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b="0" i="1" baseline="30000" smtClean="0">
                          <a:latin typeface="Cambria Math" panose="02040503050406030204" pitchFamily="18" charset="0"/>
                        </a:rPr>
                        <m:t>𝑡h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𝑜𝑟𝑖𝑒𝑛𝑡𝑎𝑡𝑖𝑜𝑛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𝑝𝑜𝑖𝑛𝑡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53449BC-6653-45FE-A16E-6387F1D76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316" y="1066801"/>
                <a:ext cx="4155368" cy="369332"/>
              </a:xfrm>
              <a:prstGeom prst="rect">
                <a:avLst/>
              </a:prstGeom>
              <a:blipFill>
                <a:blip r:embed="rId2"/>
                <a:stretch>
                  <a:fillRect l="-1173" r="-1906" b="-344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C3DACE2-88CB-434B-B9FD-C9F47AC2E86C}"/>
                  </a:ext>
                </a:extLst>
              </p:cNvPr>
              <p:cNvSpPr txBox="1"/>
              <p:nvPr/>
            </p:nvSpPr>
            <p:spPr>
              <a:xfrm>
                <a:off x="3350922" y="1579054"/>
                <a:ext cx="5490156" cy="4553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b="0" i="1" baseline="30000" smtClean="0">
                          <a:latin typeface="Cambria Math" panose="02040503050406030204" pitchFamily="18" charset="0"/>
                        </a:rPr>
                        <m:t>𝑡h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𝑖𝑛𝑡𝑒𝑟𝑓𝑎𝑐𝑒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𝑝𝑜𝑖𝑛𝑡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400" b="0" i="1" baseline="30000" smtClean="0">
                          <a:latin typeface="Cambria Math" panose="02040503050406030204" pitchFamily="18" charset="0"/>
                        </a:rPr>
                        <m:t>𝑡h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𝑙𝑎𝑦𝑒𝑟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C3DACE2-88CB-434B-B9FD-C9F47AC2E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922" y="1579054"/>
                <a:ext cx="5490156" cy="4553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標題 1">
            <a:extLst>
              <a:ext uri="{FF2B5EF4-FFF2-40B4-BE49-F238E27FC236}">
                <a16:creationId xmlns:a16="http://schemas.microsoft.com/office/drawing/2014/main" id="{39C53865-D28D-439F-BF7F-A59C6DF96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550334"/>
          </a:xfrm>
        </p:spPr>
        <p:txBody>
          <a:bodyPr/>
          <a:lstStyle/>
          <a:p>
            <a:r>
              <a:rPr lang="en-US" altLang="zh-TW"/>
              <a:t>Parameter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13899DF-0817-420C-8976-8D72CC812354}"/>
                  </a:ext>
                </a:extLst>
              </p:cNvPr>
              <p:cNvSpPr txBox="1"/>
              <p:nvPr/>
            </p:nvSpPr>
            <p:spPr>
              <a:xfrm>
                <a:off x="3035969" y="5804806"/>
                <a:ext cx="61200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400" b="0"/>
                  <a:t>gi_res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13899DF-0817-420C-8976-8D72CC812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9" y="5804806"/>
                <a:ext cx="6120062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E3E7423-E6A6-4BD5-9E9B-221A1FDE892F}"/>
                  </a:ext>
                </a:extLst>
              </p:cNvPr>
              <p:cNvSpPr txBox="1"/>
              <p:nvPr/>
            </p:nvSpPr>
            <p:spPr>
              <a:xfrm>
                <a:off x="3035969" y="5200222"/>
                <a:ext cx="61200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400" b="0"/>
                  <a:t>i_res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E3E7423-E6A6-4BD5-9E9B-221A1FDE8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9" y="5200222"/>
                <a:ext cx="6120062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F7CB91B-5828-4E94-BE93-2A6D78058283}"/>
                  </a:ext>
                </a:extLst>
              </p:cNvPr>
              <p:cNvSpPr txBox="1"/>
              <p:nvPr/>
            </p:nvSpPr>
            <p:spPr>
              <a:xfrm>
                <a:off x="3035969" y="2781878"/>
                <a:ext cx="61200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400"/>
                  <a:t>c</a:t>
                </a:r>
                <a:r>
                  <a:rPr lang="en-US" altLang="zh-TW" sz="2400" b="0"/>
                  <a:t>_o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(sill)</a:t>
                </a:r>
                <a:endParaRPr lang="zh-TW" altLang="en-US" sz="240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F7CB91B-5828-4E94-BE93-2A6D78058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9" y="2781878"/>
                <a:ext cx="6120062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1E1EDDC-28F3-4828-9D02-3DF138381663}"/>
                  </a:ext>
                </a:extLst>
              </p:cNvPr>
              <p:cNvSpPr txBox="1"/>
              <p:nvPr/>
            </p:nvSpPr>
            <p:spPr>
              <a:xfrm>
                <a:off x="3035969" y="3386464"/>
                <a:ext cx="61200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400"/>
                  <a:t>n</a:t>
                </a:r>
                <a:r>
                  <a:rPr lang="en-US" altLang="zh-TW" sz="2400" b="0"/>
                  <a:t>ugget_grad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1E1EDDC-28F3-4828-9D02-3DF138381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9" y="3386464"/>
                <a:ext cx="6120062" cy="461665"/>
              </a:xfrm>
              <a:prstGeom prst="rect">
                <a:avLst/>
              </a:prstGeom>
              <a:blipFill>
                <a:blip r:embed="rId7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5C30BF4-5F31-4892-BED5-18FAA60EF811}"/>
                  </a:ext>
                </a:extLst>
              </p:cNvPr>
              <p:cNvSpPr txBox="1"/>
              <p:nvPr/>
            </p:nvSpPr>
            <p:spPr>
              <a:xfrm>
                <a:off x="3035969" y="3991050"/>
                <a:ext cx="61200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400"/>
                  <a:t>n</a:t>
                </a:r>
                <a:r>
                  <a:rPr lang="en-US" altLang="zh-TW" sz="2400" b="0"/>
                  <a:t>ugget_scalar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5C30BF4-5F31-4892-BED5-18FAA60EF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9" y="3991050"/>
                <a:ext cx="6120062" cy="461665"/>
              </a:xfrm>
              <a:prstGeom prst="rect">
                <a:avLst/>
              </a:prstGeom>
              <a:blipFill>
                <a:blip r:embed="rId8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89D7129-CE30-4DB4-AA70-852F55328E31}"/>
                  </a:ext>
                </a:extLst>
              </p:cNvPr>
              <p:cNvSpPr txBox="1"/>
              <p:nvPr/>
            </p:nvSpPr>
            <p:spPr>
              <a:xfrm>
                <a:off x="3035969" y="2177292"/>
                <a:ext cx="61200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=1.7 </m:t>
                    </m:r>
                  </m:oMath>
                </a14:m>
                <a:r>
                  <a:rPr lang="en-US" altLang="zh-TW" sz="2400"/>
                  <a:t>(range)</a:t>
                </a:r>
                <a:endParaRPr lang="zh-TW" altLang="en-US" sz="240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89D7129-CE30-4DB4-AA70-852F55328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9" y="2177292"/>
                <a:ext cx="6120062" cy="461665"/>
              </a:xfrm>
              <a:prstGeom prst="rect">
                <a:avLst/>
              </a:prstGeom>
              <a:blipFill>
                <a:blip r:embed="rId9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92B53CE-ADAE-EFF8-78F4-462817C4B8B6}"/>
                  </a:ext>
                </a:extLst>
              </p:cNvPr>
              <p:cNvSpPr txBox="1"/>
              <p:nvPr/>
            </p:nvSpPr>
            <p:spPr>
              <a:xfrm>
                <a:off x="3035969" y="4595634"/>
                <a:ext cx="61200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altLang="zh-TW" sz="2400" i="1" smtClean="0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zh-TW" altLang="en-US" sz="24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92B53CE-ADAE-EFF8-78F4-462817C4B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9" y="4595634"/>
                <a:ext cx="612006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8988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E8D8D9-CE75-40A9-AFAE-DE7357F1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SRT</a:t>
            </a:r>
            <a:r>
              <a:rPr lang="zh-TW" altLang="en-US"/>
              <a:t> </a:t>
            </a:r>
            <a:r>
              <a:rPr lang="en-US" altLang="zh-TW"/>
              <a:t>Transform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2EFE00-E3D6-40FA-ADE2-E17C2F859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1"/>
            <a:ext cx="11463866" cy="1299410"/>
          </a:xfrm>
        </p:spPr>
        <p:txBody>
          <a:bodyPr/>
          <a:lstStyle/>
          <a:p>
            <a:r>
              <a:rPr lang="en-US" altLang="zh-TW" b="0">
                <a:latin typeface="+mn-lt"/>
              </a:rPr>
              <a:t>Implement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scale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rotate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translate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one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matrix.</a:t>
            </a:r>
          </a:p>
          <a:p>
            <a:pPr algn="just"/>
            <a:r>
              <a:rPr lang="en-US" altLang="zh-TW" b="0">
                <a:latin typeface="+mn-lt"/>
              </a:rPr>
              <a:t>Make the distance magnitude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of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axis consistent.</a:t>
            </a:r>
          </a:p>
          <a:p>
            <a:r>
              <a:rPr lang="en-US" altLang="zh-TW" b="0">
                <a:latin typeface="+mn-lt"/>
              </a:rPr>
              <a:t>All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interface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orientation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coordinates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are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scaled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to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[-0.25,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0.25].</a:t>
            </a:r>
          </a:p>
          <a:p>
            <a:endParaRPr lang="en-US" altLang="zh-TW"/>
          </a:p>
          <a:p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5B458333-47A2-48E2-B136-E18C58E162E8}"/>
              </a:ext>
            </a:extLst>
          </p:cNvPr>
          <p:cNvGrpSpPr/>
          <p:nvPr/>
        </p:nvGrpSpPr>
        <p:grpSpPr>
          <a:xfrm>
            <a:off x="698112" y="2518611"/>
            <a:ext cx="10795776" cy="3915737"/>
            <a:chOff x="1006757" y="2366844"/>
            <a:chExt cx="10795776" cy="39157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字方塊 3">
                  <a:extLst>
                    <a:ext uri="{FF2B5EF4-FFF2-40B4-BE49-F238E27FC236}">
                      <a16:creationId xmlns:a16="http://schemas.microsoft.com/office/drawing/2014/main" id="{0A848528-F533-482F-9EDF-4C28A5DCEAA4}"/>
                    </a:ext>
                  </a:extLst>
                </p:cNvPr>
                <p:cNvSpPr txBox="1"/>
                <p:nvPr/>
              </p:nvSpPr>
              <p:spPr>
                <a:xfrm>
                  <a:off x="2209923" y="4781080"/>
                  <a:ext cx="3376862" cy="150150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𝑠𝑦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𝑠𝑧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TW" altLang="en-US" sz="2400"/>
                </a:p>
              </p:txBody>
            </p:sp>
          </mc:Choice>
          <mc:Fallback xmlns="">
            <p:sp>
              <p:nvSpPr>
                <p:cNvPr id="4" name="文字方塊 3">
                  <a:extLst>
                    <a:ext uri="{FF2B5EF4-FFF2-40B4-BE49-F238E27FC236}">
                      <a16:creationId xmlns:a16="http://schemas.microsoft.com/office/drawing/2014/main" id="{0A848528-F533-482F-9EDF-4C28A5DCEA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923" y="4781080"/>
                  <a:ext cx="3376862" cy="150150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91DF17FE-0DF6-4503-8E79-61EF5004F04F}"/>
                    </a:ext>
                  </a:extLst>
                </p:cNvPr>
                <p:cNvSpPr txBox="1"/>
                <p:nvPr/>
              </p:nvSpPr>
              <p:spPr>
                <a:xfrm>
                  <a:off x="7398431" y="4781080"/>
                  <a:ext cx="3376862" cy="14592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𝑡𝑥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𝑡𝑦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𝑡𝑧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TW" altLang="en-US" sz="2400"/>
                </a:p>
              </p:txBody>
            </p:sp>
          </mc:Choice>
          <mc:Fallback xmlns="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91DF17FE-0DF6-4503-8E79-61EF5004F0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8431" y="4781080"/>
                  <a:ext cx="3376862" cy="145924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46C66915-2267-4726-8A2C-133AE05E1537}"/>
                    </a:ext>
                  </a:extLst>
                </p:cNvPr>
                <p:cNvSpPr txBox="1"/>
                <p:nvPr/>
              </p:nvSpPr>
              <p:spPr>
                <a:xfrm>
                  <a:off x="4821000" y="4784222"/>
                  <a:ext cx="3376862" cy="14529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32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33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TW" altLang="en-US" sz="2400"/>
                </a:p>
              </p:txBody>
            </p:sp>
          </mc:Choice>
          <mc:Fallback xmlns="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46C66915-2267-4726-8A2C-133AE05E15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000" y="4784222"/>
                  <a:ext cx="3376862" cy="145296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6E1C2D3D-4164-4378-9373-513AFAB856AE}"/>
                </a:ext>
              </a:extLst>
            </p:cNvPr>
            <p:cNvSpPr txBox="1"/>
            <p:nvPr/>
          </p:nvSpPr>
          <p:spPr>
            <a:xfrm>
              <a:off x="7938364" y="4840031"/>
              <a:ext cx="33768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zh-TW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11011F30-530C-4529-9E66-2A27F56C8C87}"/>
                    </a:ext>
                  </a:extLst>
                </p:cNvPr>
                <p:cNvSpPr txBox="1"/>
                <p:nvPr/>
              </p:nvSpPr>
              <p:spPr>
                <a:xfrm>
                  <a:off x="1006757" y="2366844"/>
                  <a:ext cx="10795776" cy="75700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𝑠𝑥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𝑠𝑦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𝑠𝑧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2400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 b="0" i="0" smtClean="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 b="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unc>
                                  <m:func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unc>
                                  <m:func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d>
                          </m:den>
                        </m:f>
                      </m:oMath>
                    </m:oMathPara>
                  </a14:m>
                  <a:endParaRPr lang="zh-TW" altLang="en-US" sz="240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11011F30-530C-4529-9E66-2A27F56C8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757" y="2366844"/>
                  <a:ext cx="10795776" cy="75700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E5F6E6FF-D522-4E2D-831B-F6BC85F62F83}"/>
                    </a:ext>
                  </a:extLst>
                </p:cNvPr>
                <p:cNvSpPr txBox="1"/>
                <p:nvPr/>
              </p:nvSpPr>
              <p:spPr>
                <a:xfrm>
                  <a:off x="4542684" y="3362878"/>
                  <a:ext cx="3723922" cy="117602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𝑡𝑢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TW" sz="2400" b="0"/>
                </a:p>
                <a:p>
                  <a:endParaRPr lang="zh-TW" altLang="en-US" sz="2400"/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E5F6E6FF-D522-4E2D-831B-F6BC85F62F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2684" y="3362878"/>
                  <a:ext cx="3723922" cy="117602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B4ECFB77-EB9C-4A66-B6BB-4E424B820EFF}"/>
                </a:ext>
              </a:extLst>
            </p:cNvPr>
            <p:cNvSpPr txBox="1"/>
            <p:nvPr/>
          </p:nvSpPr>
          <p:spPr>
            <a:xfrm>
              <a:off x="3720260" y="4261839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S</a:t>
              </a:r>
              <a:endParaRPr lang="zh-TW" altLang="en-US" sz="240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179D0C4F-4C03-4649-BC9E-3B0931C0F12D}"/>
                </a:ext>
              </a:extLst>
            </p:cNvPr>
            <p:cNvSpPr txBox="1"/>
            <p:nvPr/>
          </p:nvSpPr>
          <p:spPr>
            <a:xfrm>
              <a:off x="6331337" y="4261839"/>
              <a:ext cx="3561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/>
                <a:t>R</a:t>
              </a:r>
              <a:endParaRPr lang="zh-TW" altLang="en-US" sz="2400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4670FE41-DB79-4E31-A220-FEAA77C30C42}"/>
                </a:ext>
              </a:extLst>
            </p:cNvPr>
            <p:cNvSpPr txBox="1"/>
            <p:nvPr/>
          </p:nvSpPr>
          <p:spPr>
            <a:xfrm>
              <a:off x="8900753" y="4260468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T</a:t>
              </a:r>
              <a:endParaRPr lang="zh-TW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248773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D52C92-68E2-FFC4-BB3F-0A827DA8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SRT</a:t>
            </a:r>
            <a:r>
              <a:rPr lang="zh-TW" altLang="en-US"/>
              <a:t> </a:t>
            </a:r>
            <a:r>
              <a:rPr lang="en-US" altLang="zh-TW"/>
              <a:t>Transform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054291-F97F-1A18-880F-B4BBF5843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1"/>
            <a:ext cx="11463866" cy="879020"/>
          </a:xfrm>
        </p:spPr>
        <p:txBody>
          <a:bodyPr/>
          <a:lstStyle/>
          <a:p>
            <a:pPr algn="just"/>
            <a:r>
              <a:rPr lang="en-US" altLang="zh-TW" b="0">
                <a:latin typeface="+mn-lt"/>
              </a:rPr>
              <a:t>The fourth column is only there to ensure that the SRT matrix is square. We don't need to keep it, so it can be removed.</a:t>
            </a:r>
            <a:endParaRPr lang="zh-TW" altLang="en-US" b="0">
              <a:latin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39FF33-BFD7-4AFA-9098-A3F3B08A2979}"/>
              </a:ext>
            </a:extLst>
          </p:cNvPr>
          <p:cNvSpPr/>
          <p:nvPr/>
        </p:nvSpPr>
        <p:spPr>
          <a:xfrm>
            <a:off x="2647950" y="2952391"/>
            <a:ext cx="6905625" cy="16924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0D923C6-56BF-3C24-9083-08127FEF7C58}"/>
              </a:ext>
            </a:extLst>
          </p:cNvPr>
          <p:cNvSpPr txBox="1"/>
          <p:nvPr/>
        </p:nvSpPr>
        <p:spPr>
          <a:xfrm>
            <a:off x="5593050" y="2490726"/>
            <a:ext cx="1056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</a:rPr>
              <a:t>S*R*T</a:t>
            </a:r>
            <a:endParaRPr lang="zh-TW" altLang="en-US" sz="2400">
              <a:solidFill>
                <a:srgbClr val="FF0000"/>
              </a:solidFill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D9D9663B-6959-A24C-936F-0C16473704AB}"/>
              </a:ext>
            </a:extLst>
          </p:cNvPr>
          <p:cNvCxnSpPr>
            <a:cxnSpLocks/>
          </p:cNvCxnSpPr>
          <p:nvPr/>
        </p:nvCxnSpPr>
        <p:spPr>
          <a:xfrm>
            <a:off x="2895600" y="4393764"/>
            <a:ext cx="63627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CA54A37-53F7-2545-F7A3-39CE84B833DA}"/>
                  </a:ext>
                </a:extLst>
              </p:cNvPr>
              <p:cNvSpPr txBox="1"/>
              <p:nvPr/>
            </p:nvSpPr>
            <p:spPr>
              <a:xfrm>
                <a:off x="3788229" y="4923059"/>
                <a:ext cx="47685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∗[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 1]′</m:t>
                      </m:r>
                    </m:oMath>
                  </m:oMathPara>
                </a14:m>
                <a:endParaRPr lang="en-US" altLang="zh-TW" sz="2400" b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CA54A37-53F7-2545-F7A3-39CE84B83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229" y="4923059"/>
                <a:ext cx="4768577" cy="461665"/>
              </a:xfrm>
              <a:prstGeom prst="rect">
                <a:avLst/>
              </a:prstGeom>
              <a:blipFill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2FCD7D52-3EE9-4225-A6EC-FC600B229A63}"/>
              </a:ext>
            </a:extLst>
          </p:cNvPr>
          <p:cNvSpPr/>
          <p:nvPr/>
        </p:nvSpPr>
        <p:spPr>
          <a:xfrm>
            <a:off x="4168374" y="4923059"/>
            <a:ext cx="4008285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02AD9B34-6838-5756-73B5-D803E3C611B8}"/>
                  </a:ext>
                </a:extLst>
              </p:cNvPr>
              <p:cNvSpPr txBox="1"/>
              <p:nvPr/>
            </p:nvSpPr>
            <p:spPr>
              <a:xfrm>
                <a:off x="2417018" y="3033802"/>
                <a:ext cx="7350092" cy="1529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𝑠𝑥</m:t>
                                </m:r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𝑠𝑥</m:t>
                                </m:r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𝑠𝑥</m:t>
                                </m:r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𝑠𝑥</m:t>
                                </m:r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zh-TW" altLang="en-US" sz="2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𝑡𝑥</m:t>
                                    </m:r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zh-TW" altLang="en-US" sz="2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𝑡𝑦</m:t>
                                    </m:r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zh-TW" altLang="en-US" sz="2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𝑡𝑧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𝑠𝑦</m:t>
                                </m:r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𝑠𝑦</m:t>
                                </m:r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𝑠𝑦</m:t>
                                </m:r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𝑠𝑦</m:t>
                                </m:r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zh-TW" altLang="en-US" sz="2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𝑡𝑥</m:t>
                                    </m:r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zh-TW" altLang="en-US" sz="2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𝑡𝑦</m:t>
                                    </m:r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zh-TW" altLang="en-US" sz="2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𝑡𝑧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𝑠𝑧</m:t>
                                </m:r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𝑠𝑧</m:t>
                                </m:r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𝑠𝑧</m:t>
                                </m:r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𝑠𝑧</m:t>
                                </m:r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zh-TW" altLang="en-US" sz="2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𝑡𝑥</m:t>
                                    </m:r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zh-TW" altLang="en-US" sz="2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𝑡𝑦</m:t>
                                    </m:r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zh-TW" altLang="en-US" sz="2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𝑡𝑧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02AD9B34-6838-5756-73B5-D803E3C61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018" y="3033802"/>
                <a:ext cx="7350092" cy="15295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071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1E5843-54AF-84A3-8A69-201F2CF62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SRT</a:t>
            </a:r>
            <a:r>
              <a:rPr lang="zh-TW" altLang="en-US"/>
              <a:t> </a:t>
            </a:r>
            <a:r>
              <a:rPr lang="en-US" altLang="zh-TW"/>
              <a:t>Transform</a:t>
            </a:r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53A19ED-8AA0-0587-5E77-0F01E5064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66801"/>
            <a:ext cx="2186795" cy="55728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D45FDF5-60F4-C3B9-9C0B-614A4D850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079" y="1066801"/>
            <a:ext cx="3302921" cy="55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23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EDB848F-AFCD-43F7-BBBF-5897EA229CD1}"/>
                  </a:ext>
                </a:extLst>
              </p:cNvPr>
              <p:cNvSpPr txBox="1"/>
              <p:nvPr/>
            </p:nvSpPr>
            <p:spPr>
              <a:xfrm>
                <a:off x="2827929" y="3322483"/>
                <a:ext cx="6499535" cy="7107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)=1−7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EDB848F-AFCD-43F7-BBBF-5897EA229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929" y="3322483"/>
                <a:ext cx="6499535" cy="7107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ABB4F403-E1DC-400E-B1CD-8F92D53ED07E}"/>
              </a:ext>
            </a:extLst>
          </p:cNvPr>
          <p:cNvSpPr txBox="1"/>
          <p:nvPr/>
        </p:nvSpPr>
        <p:spPr>
          <a:xfrm>
            <a:off x="4877442" y="2764730"/>
            <a:ext cx="2319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Cubic</a:t>
            </a:r>
            <a:r>
              <a:rPr lang="zh-TW" altLang="en-US" sz="2400"/>
              <a:t> </a:t>
            </a:r>
            <a:r>
              <a:rPr lang="en-US" altLang="zh-TW" sz="2400"/>
              <a:t>covariance</a:t>
            </a:r>
            <a:endParaRPr lang="zh-TW" altLang="en-US" sz="24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CD43B8A8-C7DD-4A8F-B10B-26A46968E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550334"/>
          </a:xfrm>
        </p:spPr>
        <p:txBody>
          <a:bodyPr/>
          <a:lstStyle/>
          <a:p>
            <a:r>
              <a:rPr lang="en-US" altLang="zh-TW"/>
              <a:t>Covariance</a:t>
            </a:r>
            <a:r>
              <a:rPr lang="zh-TW" altLang="en-US"/>
              <a:t> </a:t>
            </a:r>
            <a:r>
              <a:rPr lang="en-US" altLang="zh-TW"/>
              <a:t>model</a:t>
            </a:r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65D90C-C23B-437B-8BF9-6C1126E1FA5C}"/>
              </a:ext>
            </a:extLst>
          </p:cNvPr>
          <p:cNvSpPr/>
          <p:nvPr/>
        </p:nvSpPr>
        <p:spPr>
          <a:xfrm>
            <a:off x="2909357" y="2764730"/>
            <a:ext cx="6373286" cy="30770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B26BD3F-D9CC-4D18-892C-7045A4B8687A}"/>
                  </a:ext>
                </a:extLst>
              </p:cNvPr>
              <p:cNvSpPr txBox="1"/>
              <p:nvPr/>
            </p:nvSpPr>
            <p:spPr>
              <a:xfrm>
                <a:off x="3217872" y="4129343"/>
                <a:ext cx="5674823" cy="773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=−14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B26BD3F-D9CC-4D18-892C-7045A4B86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872" y="4129343"/>
                <a:ext cx="5674823" cy="7738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447BB3C-97E2-4E27-9B31-4002927C149E}"/>
                  </a:ext>
                </a:extLst>
              </p:cNvPr>
              <p:cNvSpPr txBox="1"/>
              <p:nvPr/>
            </p:nvSpPr>
            <p:spPr>
              <a:xfrm>
                <a:off x="2954178" y="4999297"/>
                <a:ext cx="6165599" cy="746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′′(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)=−14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210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140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126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447BB3C-97E2-4E27-9B31-4002927C1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178" y="4999297"/>
                <a:ext cx="6165599" cy="7464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B789F128-137B-4964-D26F-FAD2183CD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1287236"/>
          </a:xfrm>
        </p:spPr>
        <p:txBody>
          <a:bodyPr/>
          <a:lstStyle/>
          <a:p>
            <a:pPr algn="just"/>
            <a:r>
              <a:rPr lang="en-US" altLang="zh-TW" b="0">
                <a:latin typeface="+mn-lt"/>
              </a:rPr>
              <a:t>Use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cubic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covariance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because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of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mathematical robustness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 its coherent geological description of the space.</a:t>
            </a:r>
          </a:p>
          <a:p>
            <a:pPr algn="just"/>
            <a:r>
              <a:rPr lang="en-US" altLang="zh-TW" b="0">
                <a:latin typeface="+mn-lt"/>
              </a:rPr>
              <a:t>Parameter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r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3D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Euclidean distance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9788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247578-E184-4C3E-888E-62AF258F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Gradient</a:t>
            </a:r>
            <a:r>
              <a:rPr lang="zh-TW" altLang="en-US"/>
              <a:t> </a:t>
            </a:r>
            <a:r>
              <a:rPr lang="en-US" altLang="zh-TW"/>
              <a:t>covariance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D3E460B-92E7-40E1-BCBC-E4B50E53B2F3}"/>
                  </a:ext>
                </a:extLst>
              </p:cNvPr>
              <p:cNvSpPr txBox="1"/>
              <p:nvPr/>
            </p:nvSpPr>
            <p:spPr>
              <a:xfrm>
                <a:off x="1886284" y="2884201"/>
                <a:ext cx="8470231" cy="13428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TW" sz="2400" i="1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𝐺𝑥𝐺𝑦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𝐺𝑥𝐺𝑧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𝐺𝑦𝐺𝑧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brk m:alnAt="7"/>
                        </m:rPr>
                        <a:rPr lang="en-US" altLang="zh-TW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𝑢𝑔𝑔𝑒𝑡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𝑔𝑟𝑎𝑑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D3E460B-92E7-40E1-BCBC-E4B50E53B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284" y="2884201"/>
                <a:ext cx="8470231" cy="13428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25CA5D70-9909-47BB-BBCE-0F88FBD943F7}"/>
              </a:ext>
            </a:extLst>
          </p:cNvPr>
          <p:cNvSpPr/>
          <p:nvPr/>
        </p:nvSpPr>
        <p:spPr>
          <a:xfrm>
            <a:off x="2723147" y="2884202"/>
            <a:ext cx="6745704" cy="13428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94D66B-1BBA-F752-18B3-C50AEA343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199"/>
            <a:ext cx="11463866" cy="1442357"/>
          </a:xfrm>
        </p:spPr>
        <p:txBody>
          <a:bodyPr/>
          <a:lstStyle/>
          <a:p>
            <a:r>
              <a:rPr lang="en-US" altLang="zh-TW" b="0">
                <a:latin typeface="+mn-lt"/>
              </a:rPr>
              <a:t>Calculate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the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covariance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matrix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between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gradient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points.</a:t>
            </a:r>
          </a:p>
          <a:p>
            <a:r>
              <a:rPr lang="en-US" altLang="zh-TW" b="0">
                <a:latin typeface="+mn-lt"/>
              </a:rPr>
              <a:t>Need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some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sub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matrix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to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construct.</a:t>
            </a:r>
          </a:p>
          <a:p>
            <a:r>
              <a:rPr lang="en-US" altLang="zh-TW" b="0">
                <a:latin typeface="+mn-lt"/>
              </a:rPr>
              <a:t>Add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nugget_grad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to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diagonal.</a:t>
            </a:r>
          </a:p>
        </p:txBody>
      </p:sp>
    </p:spTree>
    <p:extLst>
      <p:ext uri="{BB962C8B-B14F-4D97-AF65-F5344CB8AC3E}">
        <p14:creationId xmlns:p14="http://schemas.microsoft.com/office/powerpoint/2010/main" val="598163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B5FE4B-FFF9-5C4F-A75B-FE4FCC0C5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Gradient</a:t>
            </a:r>
            <a:r>
              <a:rPr lang="zh-TW" altLang="en-US"/>
              <a:t> </a:t>
            </a:r>
            <a:r>
              <a:rPr lang="en-US" altLang="zh-TW"/>
              <a:t>covariance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421EF8B-4108-5DE2-32D3-C57259E75F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9467" y="1219200"/>
                <a:ext cx="11463866" cy="88718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TW" altLang="en-US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is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the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sub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covariance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matrix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of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solidFill>
                      <a:srgbClr val="FF0000"/>
                    </a:solidFill>
                    <a:latin typeface="+mn-lt"/>
                  </a:rPr>
                  <a:t>same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direction.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𝐺𝑢𝐺𝑣</m:t>
                        </m:r>
                      </m:sub>
                    </m:sSub>
                  </m:oMath>
                </a14:m>
                <a:r>
                  <a:rPr lang="zh-TW" altLang="en-US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is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the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sub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covariance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matrix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of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solidFill>
                      <a:srgbClr val="FF0000"/>
                    </a:solidFill>
                    <a:latin typeface="+mn-lt"/>
                  </a:rPr>
                  <a:t>different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direction.</a:t>
                </a:r>
              </a:p>
              <a:p>
                <a:endParaRPr lang="zh-TW" altLang="en-US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421EF8B-4108-5DE2-32D3-C57259E75F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9467" y="1219200"/>
                <a:ext cx="11463866" cy="887185"/>
              </a:xfrm>
              <a:blipFill>
                <a:blip r:embed="rId2"/>
                <a:stretch>
                  <a:fillRect l="-106" t="-9589" b="-143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7ABFBC2-F315-7DC4-D48F-9CF4DCCD2942}"/>
                  </a:ext>
                </a:extLst>
              </p:cNvPr>
              <p:cNvSpPr txBox="1"/>
              <p:nvPr/>
            </p:nvSpPr>
            <p:spPr>
              <a:xfrm>
                <a:off x="2119808" y="2686200"/>
                <a:ext cx="7952384" cy="1485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0)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0)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0)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7ABFBC2-F315-7DC4-D48F-9CF4DCCD2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808" y="2686200"/>
                <a:ext cx="7952384" cy="1485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4087CC8-8F93-1429-188E-29A86C05AFBE}"/>
                  </a:ext>
                </a:extLst>
              </p:cNvPr>
              <p:cNvSpPr txBox="1"/>
              <p:nvPr/>
            </p:nvSpPr>
            <p:spPr>
              <a:xfrm>
                <a:off x="1498265" y="4332370"/>
                <a:ext cx="9246270" cy="1485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𝐺𝑢𝐺𝑣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𝐺𝑢𝐺𝑣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0)</m:t>
                                      </m:r>
                                    </m:e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𝐺𝑢𝐺𝑣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𝐺𝑢𝐺𝑣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𝐺𝑢𝐺𝑣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𝐺𝑢𝐺𝑣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𝐺𝑢𝐺𝑣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𝐺𝑢𝐺𝑣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𝐺𝑢𝐺𝑣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𝐺𝑢𝐺𝑣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4087CC8-8F93-1429-188E-29A86C05A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265" y="4332370"/>
                <a:ext cx="9246270" cy="1485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830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67CABA-9363-4E73-B162-468FF62B6EA3}"/>
                  </a:ext>
                </a:extLst>
              </p:cNvPr>
              <p:cNvSpPr txBox="1"/>
              <p:nvPr/>
            </p:nvSpPr>
            <p:spPr>
              <a:xfrm>
                <a:off x="1931112" y="3429000"/>
                <a:ext cx="8329755" cy="12315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l-GR" altLang="zh-TW" sz="2400" i="1">
                              <a:latin typeface="Cambria Math" panose="02040503050406030204" pitchFamily="18" charset="0"/>
                            </a:rPr>
                            <m:t>ε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𝐺𝑢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b="0"/>
              </a:p>
              <a:p>
                <a:endParaRPr lang="zh-TW" altLang="en-US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67CABA-9363-4E73-B162-468FF62B6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112" y="3429000"/>
                <a:ext cx="8329755" cy="12315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E827232-8C4D-4359-9EDF-2CD988A89D78}"/>
                  </a:ext>
                </a:extLst>
              </p:cNvPr>
              <p:cNvSpPr txBox="1"/>
              <p:nvPr/>
            </p:nvSpPr>
            <p:spPr>
              <a:xfrm>
                <a:off x="2357467" y="4761725"/>
                <a:ext cx="7477047" cy="9142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l-GR" altLang="zh-TW" sz="2400" i="1">
                              <a:latin typeface="Cambria Math" panose="02040503050406030204" pitchFamily="18" charset="0"/>
                            </a:rPr>
                            <m:t>ε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𝐺𝑢𝐺𝑣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E827232-8C4D-4359-9EDF-2CD988A89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467" y="4761725"/>
                <a:ext cx="7477047" cy="914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標題 1">
            <a:extLst>
              <a:ext uri="{FF2B5EF4-FFF2-40B4-BE49-F238E27FC236}">
                <a16:creationId xmlns:a16="http://schemas.microsoft.com/office/drawing/2014/main" id="{59D45590-8FFD-46C9-8F62-A7A69EE4E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550334"/>
          </a:xfrm>
        </p:spPr>
        <p:txBody>
          <a:bodyPr/>
          <a:lstStyle/>
          <a:p>
            <a:r>
              <a:rPr lang="en-US" altLang="zh-TW"/>
              <a:t>Gradient</a:t>
            </a:r>
            <a:r>
              <a:rPr lang="zh-TW" altLang="en-US"/>
              <a:t> </a:t>
            </a:r>
            <a:r>
              <a:rPr lang="en-US" altLang="zh-TW"/>
              <a:t>covariance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0F32414-3C40-77CC-C7D1-5BBF01C85D49}"/>
                  </a:ext>
                </a:extLst>
              </p:cNvPr>
              <p:cNvSpPr txBox="1"/>
              <p:nvPr/>
            </p:nvSpPr>
            <p:spPr>
              <a:xfrm>
                <a:off x="4562707" y="2411683"/>
                <a:ext cx="3066563" cy="916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l-GR" altLang="zh-TW" sz="2400" i="1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TW" altLang="en-US" sz="24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0F32414-3C40-77CC-C7D1-5BBF01C85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707" y="2411683"/>
                <a:ext cx="3066563" cy="9161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A39589F3-C6A4-E2AC-D3D9-ED94B735D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887185"/>
          </a:xfrm>
        </p:spPr>
        <p:txBody>
          <a:bodyPr/>
          <a:lstStyle/>
          <a:p>
            <a:r>
              <a:rPr lang="en-US" altLang="zh-TW" sz="2400" b="0">
                <a:latin typeface="+mn-lt"/>
              </a:rPr>
              <a:t>Add a small constant ε to the denominator to avoid division by zero.</a:t>
            </a:r>
          </a:p>
          <a:p>
            <a:r>
              <a:rPr lang="en-US" altLang="zh-TW" b="0">
                <a:latin typeface="+mn-lt"/>
              </a:rPr>
              <a:t>If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r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=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0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let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r’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=</a:t>
            </a:r>
            <a:r>
              <a:rPr lang="zh-TW" altLang="en-US" b="0">
                <a:latin typeface="+mn-lt"/>
              </a:rPr>
              <a:t> </a:t>
            </a:r>
            <a:r>
              <a:rPr lang="el-GR" altLang="zh-TW" b="0">
                <a:latin typeface="+mn-lt"/>
              </a:rPr>
              <a:t>ε</a:t>
            </a:r>
            <a:r>
              <a:rPr lang="en-US" altLang="zh-TW" b="0">
                <a:latin typeface="+mn-lt"/>
              </a:rPr>
              <a:t>.</a:t>
            </a:r>
            <a:endParaRPr lang="zh-TW" altLang="en-US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3677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55981A5-6940-442F-9465-286F4A3E6DE4}"/>
                  </a:ext>
                </a:extLst>
              </p:cNvPr>
              <p:cNvSpPr txBox="1"/>
              <p:nvPr/>
            </p:nvSpPr>
            <p:spPr>
              <a:xfrm>
                <a:off x="3430669" y="2071255"/>
                <a:ext cx="5406416" cy="7188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𝑟𝑒𝑠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𝑍𝐺𝑢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55981A5-6940-442F-9465-286F4A3E6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669" y="2071255"/>
                <a:ext cx="5406416" cy="7188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B5869CD-81D0-4CE3-A072-FAD33B0958CD}"/>
                  </a:ext>
                </a:extLst>
              </p:cNvPr>
              <p:cNvSpPr txBox="1"/>
              <p:nvPr/>
            </p:nvSpPr>
            <p:spPr>
              <a:xfrm>
                <a:off x="3318139" y="4870348"/>
                <a:ext cx="5631478" cy="11738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𝐺𝑍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𝑍𝐺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𝑍𝐺𝑥</m:t>
                                    </m:r>
                                    <m:d>
                                      <m:d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𝑍𝐺𝑥</m:t>
                                    </m:r>
                                    <m:d>
                                      <m:d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𝑍𝐺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𝑍𝐺𝑦</m:t>
                                    </m:r>
                                    <m:d>
                                      <m:dPr>
                                        <m:ctrlPr>
                                          <a:rPr lang="en-US" altLang="zh-TW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𝑍𝐺𝑦</m:t>
                                    </m:r>
                                    <m:d>
                                      <m:d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𝑍𝐺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d>
                                      <m:dPr>
                                        <m:ctrlP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𝑍𝐺𝑧</m:t>
                                    </m:r>
                                    <m:d>
                                      <m:d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𝑍𝐺𝑧</m:t>
                                    </m:r>
                                    <m:d>
                                      <m:d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B5869CD-81D0-4CE3-A072-FAD33B095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139" y="4870348"/>
                <a:ext cx="5631478" cy="11738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92BFE86-D76F-4BFF-BE3C-3D3599B10B8B}"/>
                  </a:ext>
                </a:extLst>
              </p:cNvPr>
              <p:cNvSpPr txBox="1"/>
              <p:nvPr/>
            </p:nvSpPr>
            <p:spPr>
              <a:xfrm>
                <a:off x="194288" y="3003270"/>
                <a:ext cx="11879179" cy="1653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𝑍𝐺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𝑍𝐺𝑢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𝑍𝐺𝑢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e>
                              <m:e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𝑍𝐺𝑢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 −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𝑍𝐺𝑢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𝑍𝐺𝑢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 −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𝑍𝐺𝑢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e>
                              <m:e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𝑍𝐺𝑢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 ) −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𝑍𝐺𝑢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e>
                              <m:e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𝑍𝐺𝑢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 −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𝑍𝐺𝑢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e>
                              <m:e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𝑍𝐺𝑢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 −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𝑍𝐺𝑢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92BFE86-D76F-4BFF-BE3C-3D3599B10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88" y="3003270"/>
                <a:ext cx="11879179" cy="16539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E7EC16DF-3398-4091-B01E-84258A0A29B1}"/>
              </a:ext>
            </a:extLst>
          </p:cNvPr>
          <p:cNvSpPr/>
          <p:nvPr/>
        </p:nvSpPr>
        <p:spPr>
          <a:xfrm>
            <a:off x="3318139" y="4883550"/>
            <a:ext cx="5631478" cy="1173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DEAF5AEC-720F-4FEF-BB82-76A6AD6F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550334"/>
          </a:xfrm>
        </p:spPr>
        <p:txBody>
          <a:bodyPr/>
          <a:lstStyle/>
          <a:p>
            <a:r>
              <a:rPr lang="en-US" altLang="zh-TW"/>
              <a:t>Cross</a:t>
            </a:r>
            <a:r>
              <a:rPr lang="zh-TW" altLang="en-US"/>
              <a:t> </a:t>
            </a:r>
            <a:r>
              <a:rPr lang="en-US" altLang="zh-TW"/>
              <a:t>covariance</a:t>
            </a:r>
            <a:endParaRPr lang="zh-TW" altLang="en-US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F4F63353-A244-38E6-3DF2-30E044E38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887185"/>
          </a:xfrm>
        </p:spPr>
        <p:txBody>
          <a:bodyPr/>
          <a:lstStyle/>
          <a:p>
            <a:r>
              <a:rPr lang="en-US" altLang="zh-TW" b="0">
                <a:latin typeface="+mn-lt"/>
              </a:rPr>
              <a:t>Calculate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the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cross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covariance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matrix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between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gradient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points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interface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points.</a:t>
            </a:r>
          </a:p>
          <a:p>
            <a:r>
              <a:rPr lang="en-US" altLang="zh-TW" b="0">
                <a:latin typeface="+mn-lt"/>
              </a:rPr>
              <a:t>To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calculate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cross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covariance,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we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need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both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gradient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points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interface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points.</a:t>
            </a:r>
          </a:p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9608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54CF16E8-0E0B-4D99-9AE9-B694C27C659B}"/>
                  </a:ext>
                </a:extLst>
              </p:cNvPr>
              <p:cNvSpPr txBox="1"/>
              <p:nvPr/>
            </p:nvSpPr>
            <p:spPr>
              <a:xfrm>
                <a:off x="658675" y="4591050"/>
                <a:ext cx="10874644" cy="15327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zh-TW" altLang="en-US" sz="240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sz="2400"/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brk m:alnAt="7"/>
                      </m:rPr>
                      <a:rPr lang="en-US" altLang="zh-TW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𝑢𝑔𝑔𝑒𝑡</m:t>
                    </m:r>
                    <m:r>
                      <a:rPr lang="en-US" altLang="zh-TW" sz="2400" b="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TW" sz="2400" b="0" i="1">
                        <a:latin typeface="Cambria Math" panose="02040503050406030204" pitchFamily="18" charset="0"/>
                      </a:rPr>
                      <m:t>𝑠𝑐𝑎𝑙𝑎𝑟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54CF16E8-0E0B-4D99-9AE9-B694C27C6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75" y="4591050"/>
                <a:ext cx="10874644" cy="15327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C4AB662-DD87-4985-8515-0E32297896B3}"/>
                  </a:ext>
                </a:extLst>
              </p:cNvPr>
              <p:cNvSpPr txBox="1"/>
              <p:nvPr/>
            </p:nvSpPr>
            <p:spPr>
              <a:xfrm>
                <a:off x="1401678" y="3424648"/>
                <a:ext cx="93886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Z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Z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Z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Z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C4AB662-DD87-4985-8515-0E3229789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678" y="3424648"/>
                <a:ext cx="9388642" cy="461665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5E88236-5430-47BB-B6AC-CEBD105326F4}"/>
                  </a:ext>
                </a:extLst>
              </p:cNvPr>
              <p:cNvSpPr txBox="1"/>
              <p:nvPr/>
            </p:nvSpPr>
            <p:spPr>
              <a:xfrm>
                <a:off x="3048000" y="2228851"/>
                <a:ext cx="6096000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TW" sz="2400" i="1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𝑟𝑒𝑠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𝐶𝑍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baseline="-2500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5E88236-5430-47BB-B6AC-CEBD10532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228851"/>
                <a:ext cx="6096000" cy="453137"/>
              </a:xfrm>
              <a:prstGeom prst="rect">
                <a:avLst/>
              </a:prstGeom>
              <a:blipFill>
                <a:blip r:embed="rId4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19E151B9-B701-42AE-8BF4-D97DFEE4180D}"/>
              </a:ext>
            </a:extLst>
          </p:cNvPr>
          <p:cNvSpPr/>
          <p:nvPr/>
        </p:nvSpPr>
        <p:spPr>
          <a:xfrm>
            <a:off x="582153" y="4591049"/>
            <a:ext cx="10951166" cy="1532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D0495D2A-93D1-473E-8C72-38D0BDE67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550334"/>
          </a:xfrm>
        </p:spPr>
        <p:txBody>
          <a:bodyPr/>
          <a:lstStyle/>
          <a:p>
            <a:r>
              <a:rPr lang="en-US" altLang="zh-TW"/>
              <a:t>Interface</a:t>
            </a:r>
            <a:r>
              <a:rPr lang="zh-TW" altLang="en-US"/>
              <a:t> </a:t>
            </a:r>
            <a:r>
              <a:rPr lang="en-US" altLang="zh-TW"/>
              <a:t>covariance</a:t>
            </a:r>
            <a:endParaRPr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3C8074C0-9124-6F77-40A1-58D7A974F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199"/>
            <a:ext cx="11463866" cy="1009651"/>
          </a:xfrm>
        </p:spPr>
        <p:txBody>
          <a:bodyPr/>
          <a:lstStyle/>
          <a:p>
            <a:r>
              <a:rPr lang="en-US" altLang="zh-TW" b="0">
                <a:latin typeface="+mn-lt"/>
              </a:rPr>
              <a:t>Calculate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the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covariance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matrix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between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interface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points.</a:t>
            </a:r>
          </a:p>
          <a:p>
            <a:r>
              <a:rPr lang="en-US" altLang="zh-TW" b="0">
                <a:latin typeface="+mn-lt"/>
              </a:rPr>
              <a:t>Add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nugget_scalar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to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diagonal.</a:t>
            </a:r>
          </a:p>
        </p:txBody>
      </p:sp>
    </p:spTree>
    <p:extLst>
      <p:ext uri="{BB962C8B-B14F-4D97-AF65-F5344CB8AC3E}">
        <p14:creationId xmlns:p14="http://schemas.microsoft.com/office/powerpoint/2010/main" val="391345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0DFCFF2F-DCD5-4711-AE44-EA16DCAC3315}"/>
                  </a:ext>
                </a:extLst>
              </p:cNvPr>
              <p:cNvSpPr txBox="1"/>
              <p:nvPr/>
            </p:nvSpPr>
            <p:spPr>
              <a:xfrm>
                <a:off x="3201181" y="2547810"/>
                <a:ext cx="5821722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400" b="0" i="1" baseline="-2500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0DFCFF2F-DCD5-4711-AE44-EA16DCAC3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181" y="2547810"/>
                <a:ext cx="5821722" cy="13606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7069785-EB21-48B9-970D-36932AF7833F}"/>
                  </a:ext>
                </a:extLst>
              </p:cNvPr>
              <p:cNvSpPr txBox="1"/>
              <p:nvPr/>
            </p:nvSpPr>
            <p:spPr>
              <a:xfrm>
                <a:off x="1467852" y="4833003"/>
                <a:ext cx="9288379" cy="1098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u="none" strike="noStrike" baseline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u="none" strike="noStrike" baseline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TW" sz="2400" b="0" i="1" u="none" strike="noStrike" baseline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u="none" strike="noStrike" baseline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u="none" strike="noStrike" baseline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7069785-EB21-48B9-970D-36932AF78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852" y="4833003"/>
                <a:ext cx="9288379" cy="10984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A1355C1-0F8C-474C-8243-1CC4BD882BB2}"/>
                  </a:ext>
                </a:extLst>
              </p:cNvPr>
              <p:cNvSpPr txBox="1"/>
              <p:nvPr/>
            </p:nvSpPr>
            <p:spPr>
              <a:xfrm>
                <a:off x="2671011" y="4551072"/>
                <a:ext cx="8085220" cy="104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0     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1     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2    ⋯    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0    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2     ⋯   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0     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1    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2      ⋯</m:t>
                      </m:r>
                    </m:oMath>
                  </m:oMathPara>
                </a14:m>
                <a:endParaRPr lang="zh-TW" altLang="en-US"/>
              </a:p>
              <a:p>
                <a:endParaRPr lang="zh-TW" altLang="en-US" sz="2400"/>
              </a:p>
              <a:p>
                <a:endParaRPr lang="zh-TW" altLang="en-US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A1355C1-0F8C-474C-8243-1CC4BD882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011" y="4551072"/>
                <a:ext cx="8085220" cy="10464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D953DA02-B4EC-4CD0-AE09-AAD5C0F28840}"/>
              </a:ext>
            </a:extLst>
          </p:cNvPr>
          <p:cNvSpPr/>
          <p:nvPr/>
        </p:nvSpPr>
        <p:spPr>
          <a:xfrm>
            <a:off x="3201181" y="2547810"/>
            <a:ext cx="5821722" cy="1360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30C793-21E4-40D3-858B-CB3163E34BFA}"/>
              </a:ext>
            </a:extLst>
          </p:cNvPr>
          <p:cNvSpPr/>
          <p:nvPr/>
        </p:nvSpPr>
        <p:spPr>
          <a:xfrm>
            <a:off x="2438400" y="4570816"/>
            <a:ext cx="7315200" cy="1360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9288696C-7BDC-4C8E-A97F-2E061F22A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550334"/>
          </a:xfrm>
        </p:spPr>
        <p:txBody>
          <a:bodyPr/>
          <a:lstStyle/>
          <a:p>
            <a:r>
              <a:rPr lang="en-US" altLang="zh-TW"/>
              <a:t>Universal</a:t>
            </a:r>
            <a:r>
              <a:rPr lang="zh-TW" altLang="en-US"/>
              <a:t> </a:t>
            </a:r>
            <a:r>
              <a:rPr lang="en-US" altLang="zh-TW"/>
              <a:t>matrix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7A11297-8394-78AB-2760-0BCDA72DB0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9467" y="1219200"/>
                <a:ext cx="11463866" cy="77316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b="0" i="1" u="none" strike="noStrike" baseline="0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altLang="zh-TW" b="0" i="1" u="none" strike="noStrike" baseline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b="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m:rPr>
                        <m:nor/>
                      </m:rPr>
                      <a:rPr lang="en-US" altLang="zh-TW" b="0">
                        <a:latin typeface="+mn-lt"/>
                      </a:rPr>
                      <m:t>:</m:t>
                    </m:r>
                    <m:r>
                      <a:rPr lang="zh-TW" altLang="en-US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b="0" dirty="0">
                    <a:latin typeface="+mn-lt"/>
                  </a:rPr>
                  <a:t>the drift functions and </a:t>
                </a:r>
                <a:r>
                  <a:rPr lang="en-US" altLang="zh-TW" b="0">
                    <a:latin typeface="+mn-lt"/>
                  </a:rPr>
                  <a:t>their gradients</a:t>
                </a:r>
              </a:p>
              <a:p>
                <a:r>
                  <a:rPr lang="en-US" altLang="zh-TW" b="0">
                    <a:latin typeface="+mn-lt"/>
                  </a:rPr>
                  <a:t>Describe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certain drift towards the direction of the orientations.</a:t>
                </a:r>
              </a:p>
              <a:p>
                <a:endParaRPr lang="en-US" altLang="zh-TW" b="0">
                  <a:latin typeface="NimbusRomNo9L-Regu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7A11297-8394-78AB-2760-0BCDA72DB0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9467" y="1219200"/>
                <a:ext cx="11463866" cy="773167"/>
              </a:xfrm>
              <a:blipFill>
                <a:blip r:embed="rId5"/>
                <a:stretch>
                  <a:fillRect l="-106" t="-10236" b="-354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255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79D81D2-31C3-4496-8A97-395C517B77C6}"/>
                  </a:ext>
                </a:extLst>
              </p:cNvPr>
              <p:cNvSpPr txBox="1"/>
              <p:nvPr/>
            </p:nvSpPr>
            <p:spPr>
              <a:xfrm>
                <a:off x="7757211" y="2112261"/>
                <a:ext cx="1515836" cy="39577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40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𝑜</m:t>
                                                </m:r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altLang="zh-TW" sz="2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altLang="zh-TW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altLang="zh-TW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𝑜</m:t>
                                                            </m:r>
                                                            <m:r>
                                                              <a:rPr lang="en-US" altLang="zh-TW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0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TW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𝑧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altLang="zh-TW" sz="240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altLang="zh-TW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𝑜</m:t>
                                                            </m:r>
                                                            <m:r>
                                                              <a:rPr lang="en-US" altLang="zh-TW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TW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𝑧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altLang="zh-TW" sz="2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US" altLang="zh-TW" sz="2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r>
                                                          <a:rPr lang="en-US" altLang="zh-TW" sz="2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⋮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79D81D2-31C3-4496-8A97-395C517B7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7211" y="2112261"/>
                <a:ext cx="1515836" cy="39577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EF3267F-0D3E-4409-94BB-227392C4192E}"/>
                  </a:ext>
                </a:extLst>
              </p:cNvPr>
              <p:cNvSpPr txBox="1"/>
              <p:nvPr/>
            </p:nvSpPr>
            <p:spPr>
              <a:xfrm>
                <a:off x="3073400" y="5719284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EF3267F-0D3E-4409-94BB-227392C41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400" y="5719284"/>
                <a:ext cx="60960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標題 1">
            <a:extLst>
              <a:ext uri="{FF2B5EF4-FFF2-40B4-BE49-F238E27FC236}">
                <a16:creationId xmlns:a16="http://schemas.microsoft.com/office/drawing/2014/main" id="{E7B73B06-5BCE-4310-88C8-79D098D8E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550334"/>
          </a:xfrm>
        </p:spPr>
        <p:txBody>
          <a:bodyPr/>
          <a:lstStyle/>
          <a:p>
            <a:r>
              <a:rPr lang="en-US" altLang="zh-TW"/>
              <a:t>Weights</a:t>
            </a:r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F8DDC6-2BAC-4144-9606-8E5ECE0AC579}"/>
              </a:ext>
            </a:extLst>
          </p:cNvPr>
          <p:cNvSpPr/>
          <p:nvPr/>
        </p:nvSpPr>
        <p:spPr>
          <a:xfrm>
            <a:off x="5435600" y="5719284"/>
            <a:ext cx="137160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4892C580-CC7A-57BE-4D56-71E0590730AD}"/>
              </a:ext>
            </a:extLst>
          </p:cNvPr>
          <p:cNvGrpSpPr/>
          <p:nvPr/>
        </p:nvGrpSpPr>
        <p:grpSpPr>
          <a:xfrm>
            <a:off x="1081547" y="3429000"/>
            <a:ext cx="7010400" cy="1919968"/>
            <a:chOff x="504624" y="2383539"/>
            <a:chExt cx="7010400" cy="19199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字方塊 2">
                  <a:extLst>
                    <a:ext uri="{FF2B5EF4-FFF2-40B4-BE49-F238E27FC236}">
                      <a16:creationId xmlns:a16="http://schemas.microsoft.com/office/drawing/2014/main" id="{CAFAEA46-8396-40D0-B7BA-6EB556B5A63E}"/>
                    </a:ext>
                  </a:extLst>
                </p:cNvPr>
                <p:cNvSpPr txBox="1"/>
                <p:nvPr/>
              </p:nvSpPr>
              <p:spPr>
                <a:xfrm>
                  <a:off x="665748" y="2383539"/>
                  <a:ext cx="6096000" cy="13242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𝐺𝑍</m:t>
                                  </m:r>
                                </m:e>
                                <m:e>
                                  <m:sSubSup>
                                    <m:sSubSup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sub>
                                    <m:sup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𝐺𝑍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e>
                                  <m:sSubSup>
                                    <m:sSubSup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  <m:sup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TW" altLang="en-US" sz="2400"/>
                </a:p>
              </p:txBody>
            </p:sp>
          </mc:Choice>
          <mc:Fallback xmlns="">
            <p:sp>
              <p:nvSpPr>
                <p:cNvPr id="3" name="文字方塊 2">
                  <a:extLst>
                    <a:ext uri="{FF2B5EF4-FFF2-40B4-BE49-F238E27FC236}">
                      <a16:creationId xmlns:a16="http://schemas.microsoft.com/office/drawing/2014/main" id="{CAFAEA46-8396-40D0-B7BA-6EB556B5A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748" y="2383539"/>
                  <a:ext cx="6096000" cy="132427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F494FF4B-162F-47CE-9B27-939E4AD80739}"/>
                    </a:ext>
                  </a:extLst>
                </p:cNvPr>
                <p:cNvSpPr txBox="1"/>
                <p:nvPr/>
              </p:nvSpPr>
              <p:spPr>
                <a:xfrm>
                  <a:off x="504624" y="3934175"/>
                  <a:ext cx="7010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3∗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𝑜𝑟𝑖𝑒𝑛𝑡𝑎𝑡𝑖𝑜𝑛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𝑝𝑜𝑖𝑛𝑡𝑠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𝑖𝑛𝑡𝑒𝑟𝑓𝑎𝑐𝑒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𝑝𝑜𝑖𝑛𝑡𝑠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𝑙𝑎𝑦𝑒𝑟𝑠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zh-TW" altLang="en-US"/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F494FF4B-162F-47CE-9B27-939E4AD80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624" y="3934175"/>
                  <a:ext cx="701040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右大括弧 11">
              <a:extLst>
                <a:ext uri="{FF2B5EF4-FFF2-40B4-BE49-F238E27FC236}">
                  <a16:creationId xmlns:a16="http://schemas.microsoft.com/office/drawing/2014/main" id="{F44572D1-5325-4632-8E3A-1D456E4BD3ED}"/>
                </a:ext>
              </a:extLst>
            </p:cNvPr>
            <p:cNvSpPr/>
            <p:nvPr/>
          </p:nvSpPr>
          <p:spPr>
            <a:xfrm rot="5400000">
              <a:off x="3893906" y="2034335"/>
              <a:ext cx="231837" cy="357879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61E46D2E-DEB7-C778-608E-422DE58D7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1324273"/>
          </a:xfrm>
        </p:spPr>
        <p:txBody>
          <a:bodyPr/>
          <a:lstStyle/>
          <a:p>
            <a:r>
              <a:rPr lang="en-US" altLang="zh-TW" b="0">
                <a:latin typeface="+mn-lt"/>
              </a:rPr>
              <a:t>Combine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all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sub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matrix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get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kriging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matrix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K.</a:t>
            </a:r>
          </a:p>
          <a:p>
            <a:r>
              <a:rPr lang="en-US" altLang="zh-TW" b="0">
                <a:latin typeface="+mn-lt"/>
              </a:rPr>
              <a:t>Combine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all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orientation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points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0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get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b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vector.</a:t>
            </a:r>
          </a:p>
          <a:p>
            <a:r>
              <a:rPr lang="en-US" altLang="zh-TW" b="0">
                <a:latin typeface="+mn-lt"/>
              </a:rPr>
              <a:t>Size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determine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by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how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many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inputs.</a:t>
            </a:r>
          </a:p>
          <a:p>
            <a:r>
              <a:rPr lang="en-US" altLang="zh-TW" b="0">
                <a:latin typeface="+mn-lt"/>
              </a:rPr>
              <a:t>Solve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weights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by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K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matrix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b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vector.</a:t>
            </a:r>
          </a:p>
        </p:txBody>
      </p:sp>
    </p:spTree>
    <p:extLst>
      <p:ext uri="{BB962C8B-B14F-4D97-AF65-F5344CB8AC3E}">
        <p14:creationId xmlns:p14="http://schemas.microsoft.com/office/powerpoint/2010/main" val="1263594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F641781-B4F7-4EBB-9860-B433200CBFF8}"/>
                  </a:ext>
                </a:extLst>
              </p:cNvPr>
              <p:cNvSpPr txBox="1"/>
              <p:nvPr/>
            </p:nvSpPr>
            <p:spPr>
              <a:xfrm>
                <a:off x="3900738" y="516467"/>
                <a:ext cx="8638674" cy="5950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′∗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altLang="zh-TW" sz="2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m>
                                                          <m:mPr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1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US" altLang="zh-TW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>
                                                              <m:m>
                                                                <m:mPr>
                                                                  <m:mcs>
                                                                    <m:mc>
                                                                      <m:mcPr>
                                                                        <m:count m:val="1"/>
                                                                        <m:mcJc m:val="center"/>
                                                                      </m:mcPr>
                                                                    </m:mc>
                                                                  </m:mcs>
                                                                  <m:ctrlPr>
                                                                    <a:rPr lang="en-US" altLang="zh-TW" sz="2400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mPr>
                                                                <m:mr>
                                                                  <m:e>
                                                                    <m:m>
                                                                      <m:mPr>
                                                                        <m:mcs>
                                                                          <m:mc>
                                                                            <m:mcPr>
                                                                              <m:count m:val="1"/>
                                                                              <m:mcJc m:val="center"/>
                                                                            </m:mcPr>
                                                                          </m:mc>
                                                                        </m:mcs>
                                                                        <m:ctrlPr>
                                                                          <a:rPr lang="en-US" altLang="zh-TW" sz="2400" b="0" i="1" smtClean="0">
                                                                            <a:latin typeface="Cambria Math" panose="02040503050406030204" pitchFamily="18" charset="0"/>
                                                                          </a:rPr>
                                                                        </m:ctrlPr>
                                                                      </m:mPr>
                                                                      <m:mr>
                                                                        <m:e>
                                                                          <m:r>
                                                                            <m:rPr>
                                                                              <m:brk m:alnAt="7"/>
                                                                            </m:rP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𝐾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_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𝑍𝐺𝑥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(</m:t>
                                                                          </m:r>
                                                                          <m:r>
                                                                            <m:rPr>
                                                                              <m:brk m:alnAt="7"/>
                                                                            </m:rP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𝑜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0−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𝑔𝑟𝑖𝑑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)∗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𝑐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_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𝑜</m:t>
                                                                          </m:r>
                                                                        </m:e>
                                                                      </m:mr>
                                                                      <m:mr>
                                                                        <m:e>
                                                                          <m:r>
                                                                            <m:rPr>
                                                                              <m:brk m:alnAt="7"/>
                                                                            </m:rP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𝐾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_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𝑍𝐺𝑥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(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𝑜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1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−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𝑔𝑟𝑖𝑑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)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∗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𝑐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_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𝑜</m:t>
                                                                          </m:r>
                                                                        </m:e>
                                                                      </m:mr>
                                                                      <m:mr>
                                                                        <m:e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⋮</m:t>
                                                                          </m:r>
                                                                        </m:e>
                                                                      </m:mr>
                                                                    </m:m>
                                                                  </m:e>
                                                                </m:mr>
                                                                <m:mr>
                                                                  <m:e>
                                                                    <m:m>
                                                                      <m:mPr>
                                                                        <m:mcs>
                                                                          <m:mc>
                                                                            <m:mcPr>
                                                                              <m:count m:val="1"/>
                                                                              <m:mcJc m:val="center"/>
                                                                            </m:mcPr>
                                                                          </m:mc>
                                                                        </m:mcs>
                                                                        <m:ctrlPr>
                                                                          <a:rPr lang="en-US" altLang="zh-TW" sz="2400" i="1" smtClean="0">
                                                                            <a:latin typeface="Cambria Math" panose="02040503050406030204" pitchFamily="18" charset="0"/>
                                                                          </a:rPr>
                                                                        </m:ctrlPr>
                                                                      </m:mPr>
                                                                      <m:mr>
                                                                        <m:e>
                                                                          <m:r>
                                                                            <m:rPr>
                                                                              <m:brk m:alnAt="7"/>
                                                                            </m:rPr>
                                                                            <a:rPr lang="en-US" altLang="zh-TW" sz="240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𝐾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_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𝑍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𝐺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𝑦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(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𝑜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0−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𝑔𝑟𝑖𝑑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)∗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𝑐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_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𝑜</m:t>
                                                                          </m:r>
                                                                        </m:e>
                                                                      </m:mr>
                                                                      <m:mr>
                                                                        <m:e>
                                                                          <m:r>
                                                                            <m:rPr>
                                                                              <m:brk m:alnAt="7"/>
                                                                            </m:rPr>
                                                                            <a:rPr lang="en-US" altLang="zh-TW" sz="240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𝐾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_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𝑍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𝐺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𝑦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(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𝑜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1−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𝑔𝑟𝑖𝑑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)∗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𝑐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_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𝑜</m:t>
                                                                          </m:r>
                                                                        </m:e>
                                                                      </m:mr>
                                                                      <m:mr>
                                                                        <m:e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⋮</m:t>
                                                                          </m:r>
                                                                        </m:e>
                                                                      </m:mr>
                                                                    </m:m>
                                                                  </m:e>
                                                                </m:mr>
                                                                <m:mr>
                                                                  <m:e>
                                                                    <m:m>
                                                                      <m:mPr>
                                                                        <m:mcs>
                                                                          <m:mc>
                                                                            <m:mcPr>
                                                                              <m:count m:val="1"/>
                                                                              <m:mcJc m:val="center"/>
                                                                            </m:mcPr>
                                                                          </m:mc>
                                                                        </m:mcs>
                                                                        <m:ctrlPr>
                                                                          <a:rPr lang="en-US" altLang="zh-TW" sz="2400" i="1" smtClean="0">
                                                                            <a:latin typeface="Cambria Math" panose="02040503050406030204" pitchFamily="18" charset="0"/>
                                                                          </a:rPr>
                                                                        </m:ctrlPr>
                                                                      </m:mPr>
                                                                      <m:mr>
                                                                        <m:e>
                                                                          <m:r>
                                                                            <m:rPr>
                                                                              <m:brk m:alnAt="7"/>
                                                                            </m:rPr>
                                                                            <a:rPr lang="en-US" altLang="zh-TW" sz="240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𝐾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_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𝑍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𝐺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𝑧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(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𝑜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0−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𝑔𝑟𝑖𝑑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)∗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𝑐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_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𝑜</m:t>
                                                                          </m:r>
                                                                        </m:e>
                                                                      </m:mr>
                                                                      <m:mr>
                                                                        <m:e>
                                                                          <m:r>
                                                                            <m:rPr>
                                                                              <m:brk m:alnAt="7"/>
                                                                            </m:rPr>
                                                                            <a:rPr lang="en-US" altLang="zh-TW" sz="240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𝐾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_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𝑍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𝐺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𝑧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b="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(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𝑜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1−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𝑔𝑟𝑖𝑑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)∗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𝑐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_</m:t>
                                                                          </m:r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𝑜</m:t>
                                                                          </m:r>
                                                                        </m:e>
                                                                      </m:mr>
                                                                      <m:mr>
                                                                        <m:e>
                                                                          <m:r>
                                                                            <a:rPr lang="en-US" altLang="zh-TW" sz="2400" i="1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  <m:t>⋮</m:t>
                                                                          </m:r>
                                                                        </m:e>
                                                                      </m:mr>
                                                                    </m:m>
                                                                  </m:e>
                                                                </m:mr>
                                                              </m:m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r>
                                                          <a:rPr lang="en-US" altLang="zh-TW" sz="2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[</m:t>
                                                        </m:r>
                                                        <m:r>
                                                          <a:rPr lang="en-US" altLang="zh-TW" sz="2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𝐾</m:t>
                                                        </m:r>
                                                        <m:r>
                                                          <a:rPr lang="en-US" altLang="zh-TW" sz="2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_</m:t>
                                                        </m:r>
                                                        <m:r>
                                                          <a:rPr lang="en-US" altLang="zh-TW" sz="2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𝑍</m:t>
                                                        </m:r>
                                                        <m:d>
                                                          <m:dPr>
                                                            <m:ctrlPr>
                                                              <a:rPr lang="en-US" altLang="zh-TW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dPr>
                                                          <m:e>
                                                            <m:r>
                                                              <a:rPr lang="en-US" altLang="zh-TW" sz="2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𝑔𝑟𝑖𝑑</m:t>
                                                            </m:r>
                                                            <m:r>
                                                              <a:rPr lang="en-US" altLang="zh-TW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sSubSup>
                                                              <m:sSubSupPr>
                                                                <m:ctrlPr>
                                                                  <a:rPr lang="en-US" altLang="zh-TW" sz="2400" b="0" i="1" smtClean="0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sSubSupPr>
                                                              <m:e>
                                                                <m:r>
                                                                  <a:rPr lang="en-US" altLang="zh-TW" sz="2400" b="0" i="1" smtClean="0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𝑖</m:t>
                                                                </m:r>
                                                              </m:e>
                                                              <m:sub>
                                                                <m:r>
                                                                  <a:rPr lang="en-US" altLang="zh-TW" sz="2400" b="0" i="1" smtClean="0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0</m:t>
                                                                </m:r>
                                                              </m:sub>
                                                              <m:sup>
                                                                <m:r>
                                                                  <a:rPr lang="en-US" altLang="zh-TW" sz="2400" b="0" i="1" smtClean="0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1</m:t>
                                                                </m:r>
                                                              </m:sup>
                                                            </m:sSubSup>
                                                          </m:e>
                                                        </m:d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−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𝐾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_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𝑍</m:t>
                                                        </m:r>
                                                        <m:d>
                                                          <m:dPr>
                                                            <m:ctrlPr>
                                                              <a:rPr lang="en-US" altLang="zh-TW" sz="2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dPr>
                                                          <m:e>
                                                            <m:r>
                                                              <a:rPr lang="en-US" altLang="zh-TW" sz="2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𝑔𝑟𝑖𝑑</m:t>
                                                            </m:r>
                                                            <m:r>
                                                              <a:rPr lang="en-US" altLang="zh-TW" sz="2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sSubSup>
                                                              <m:sSubSupPr>
                                                                <m:ctrlPr>
                                                                  <a:rPr lang="en-US" altLang="zh-TW" sz="2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sSubSupPr>
                                                              <m:e>
                                                                <m:r>
                                                                  <a:rPr lang="en-US" altLang="zh-TW" sz="2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𝑖</m:t>
                                                                </m:r>
                                                              </m:e>
                                                              <m:sub>
                                                                <m:r>
                                                                  <a:rPr lang="en-US" altLang="zh-TW" sz="2400" b="0" i="1" smtClean="0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1</m:t>
                                                                </m:r>
                                                              </m:sub>
                                                              <m:sup>
                                                                <m:r>
                                                                  <a:rPr lang="en-US" altLang="zh-TW" sz="2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1</m:t>
                                                                </m:r>
                                                              </m:sup>
                                                            </m:sSubSup>
                                                          </m:e>
                                                        </m:d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]∗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𝑐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_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𝑜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r>
                                                          <a:rPr lang="en-US" altLang="zh-TW" sz="2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[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𝐾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_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𝑍</m:t>
                                                        </m:r>
                                                        <m:d>
                                                          <m:dPr>
                                                            <m:ctrlPr>
                                                              <a:rPr lang="en-US" altLang="zh-TW" sz="2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dPr>
                                                          <m:e>
                                                            <m:r>
                                                              <a:rPr lang="en-US" altLang="zh-TW" sz="2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𝑔𝑟𝑖𝑑</m:t>
                                                            </m:r>
                                                            <m:r>
                                                              <a:rPr lang="en-US" altLang="zh-TW" sz="2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sSubSup>
                                                              <m:sSubSupPr>
                                                                <m:ctrlPr>
                                                                  <a:rPr lang="en-US" altLang="zh-TW" sz="2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sSubSupPr>
                                                              <m:e>
                                                                <m:r>
                                                                  <a:rPr lang="en-US" altLang="zh-TW" sz="2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𝑖</m:t>
                                                                </m:r>
                                                              </m:e>
                                                              <m:sub>
                                                                <m:r>
                                                                  <a:rPr lang="en-US" altLang="zh-TW" sz="2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0</m:t>
                                                                </m:r>
                                                              </m:sub>
                                                              <m:sup>
                                                                <m:r>
                                                                  <a:rPr lang="en-US" altLang="zh-TW" sz="2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1</m:t>
                                                                </m:r>
                                                              </m:sup>
                                                            </m:sSubSup>
                                                          </m:e>
                                                        </m:d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−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𝐾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_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𝑍</m:t>
                                                        </m:r>
                                                        <m:d>
                                                          <m:dPr>
                                                            <m:ctrlPr>
                                                              <a:rPr lang="en-US" altLang="zh-TW" sz="2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dPr>
                                                          <m:e>
                                                            <m:r>
                                                              <a:rPr lang="en-US" altLang="zh-TW" sz="2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𝑔𝑟𝑖𝑑</m:t>
                                                            </m:r>
                                                            <m:r>
                                                              <a:rPr lang="en-US" altLang="zh-TW" sz="2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sSubSup>
                                                              <m:sSubSupPr>
                                                                <m:ctrlPr>
                                                                  <a:rPr lang="en-US" altLang="zh-TW" sz="2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sSubSupPr>
                                                              <m:e>
                                                                <m:r>
                                                                  <a:rPr lang="en-US" altLang="zh-TW" sz="2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𝑖</m:t>
                                                                </m:r>
                                                              </m:e>
                                                              <m:sub>
                                                                <m:r>
                                                                  <a:rPr lang="en-US" altLang="zh-TW" sz="2400" b="0" i="1" smtClean="0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2</m:t>
                                                                </m:r>
                                                              </m:sub>
                                                              <m:sup>
                                                                <m:r>
                                                                  <a:rPr lang="en-US" altLang="zh-TW" sz="2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1</m:t>
                                                                </m:r>
                                                              </m:sup>
                                                            </m:sSubSup>
                                                          </m:e>
                                                        </m:d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]∗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𝑐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_</m:t>
                                                        </m:r>
                                                        <m:r>
                                                          <a:rPr lang="en-US" altLang="zh-TW" sz="2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𝑜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[</m:t>
                                                  </m:r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𝐾</m:t>
                                                  </m:r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_</m:t>
                                                  </m:r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𝑍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altLang="zh-TW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zh-TW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𝑔𝑟𝑖𝑑</m:t>
                                                      </m:r>
                                                      <m:r>
                                                        <a:rPr lang="en-US" altLang="zh-TW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bSup>
                                                        <m:sSubSupPr>
                                                          <m:ctrlPr>
                                                            <a:rPr lang="en-US" altLang="zh-TW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SupPr>
                                                        <m:e>
                                                          <m:r>
                                                            <a:rPr lang="en-US" altLang="zh-TW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altLang="zh-TW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</m:t>
                                                          </m:r>
                                                        </m:sub>
                                                        <m:sup>
                                                          <m:r>
                                                            <a:rPr lang="en-US" altLang="zh-TW" sz="24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bSup>
                                                    </m:e>
                                                  </m:d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𝐾</m:t>
                                                  </m:r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_</m:t>
                                                  </m:r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𝑍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altLang="zh-TW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zh-TW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𝑔𝑟𝑖𝑑</m:t>
                                                      </m:r>
                                                      <m:r>
                                                        <a:rPr lang="en-US" altLang="zh-TW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bSup>
                                                        <m:sSubSupPr>
                                                          <m:ctrlPr>
                                                            <a:rPr lang="en-US" altLang="zh-TW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SupPr>
                                                        <m:e>
                                                          <m:r>
                                                            <a:rPr lang="en-US" altLang="zh-TW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altLang="zh-TW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</m:sub>
                                                        <m:sup>
                                                          <m:r>
                                                            <a:rPr lang="en-US" altLang="zh-TW" sz="24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bSup>
                                                    </m:e>
                                                  </m:d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]∗</m:t>
                                                  </m:r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_</m:t>
                                                  </m:r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𝑜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𝑔𝑟𝑖𝑑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𝑔𝑖</m:t>
                                            </m:r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_</m:t>
                                            </m:r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𝑟𝑒𝑠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𝑔𝑟𝑖𝑑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_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𝑟𝑒𝑠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𝑔𝑟𝑖𝑑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𝑟𝑒𝑠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F641781-B4F7-4EBB-9860-B433200CB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738" y="516467"/>
                <a:ext cx="8638674" cy="59503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1">
            <a:extLst>
              <a:ext uri="{FF2B5EF4-FFF2-40B4-BE49-F238E27FC236}">
                <a16:creationId xmlns:a16="http://schemas.microsoft.com/office/drawing/2014/main" id="{EB56A950-7567-4FCF-997D-5D0BB6AB7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479576"/>
          </a:xfrm>
        </p:spPr>
        <p:txBody>
          <a:bodyPr/>
          <a:lstStyle/>
          <a:p>
            <a:r>
              <a:rPr lang="en-US" altLang="zh-TW"/>
              <a:t>Evaluate</a:t>
            </a:r>
            <a:r>
              <a:rPr lang="zh-TW" altLang="en-US"/>
              <a:t> </a:t>
            </a:r>
            <a:r>
              <a:rPr lang="en-US" altLang="zh-TW"/>
              <a:t>Scalar</a:t>
            </a:r>
            <a:r>
              <a:rPr lang="zh-TW" altLang="en-US"/>
              <a:t> </a:t>
            </a:r>
            <a:r>
              <a:rPr lang="en-US" altLang="zh-TW"/>
              <a:t>field</a:t>
            </a:r>
            <a:endParaRPr lang="zh-TW" altLang="en-US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6E448B21-F69B-96AD-45B1-605AD95AC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1"/>
            <a:ext cx="11463866" cy="1299410"/>
          </a:xfrm>
        </p:spPr>
        <p:txBody>
          <a:bodyPr/>
          <a:lstStyle/>
          <a:p>
            <a:r>
              <a:rPr lang="en-US" altLang="zh-TW" b="0">
                <a:latin typeface="+mj-lt"/>
              </a:rPr>
              <a:t>Scalar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field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Z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is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the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inner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product</a:t>
            </a:r>
          </a:p>
          <a:p>
            <a:pPr marL="0" indent="0">
              <a:buNone/>
            </a:pPr>
            <a:r>
              <a:rPr lang="zh-TW" altLang="en-US" b="0">
                <a:latin typeface="+mj-lt"/>
              </a:rPr>
              <a:t>       </a:t>
            </a:r>
            <a:r>
              <a:rPr lang="en-US" altLang="zh-TW" b="0">
                <a:latin typeface="+mj-lt"/>
              </a:rPr>
              <a:t>of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weights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and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evaluate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vector.</a:t>
            </a:r>
          </a:p>
          <a:p>
            <a:r>
              <a:rPr lang="en-US" altLang="zh-TW" b="0">
                <a:latin typeface="+mj-lt"/>
              </a:rPr>
              <a:t>We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need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to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do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this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inner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product</a:t>
            </a:r>
          </a:p>
          <a:p>
            <a:pPr marL="0" indent="0">
              <a:buNone/>
            </a:pPr>
            <a:r>
              <a:rPr lang="zh-TW" altLang="en-US" b="0">
                <a:latin typeface="+mj-lt"/>
              </a:rPr>
              <a:t>       </a:t>
            </a:r>
            <a:r>
              <a:rPr lang="en-US" altLang="zh-TW" b="0">
                <a:latin typeface="+mj-lt"/>
              </a:rPr>
              <a:t>many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times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depend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on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resolution.</a:t>
            </a:r>
          </a:p>
          <a:p>
            <a:pPr marL="0" indent="0">
              <a:buNone/>
            </a:pPr>
            <a:endParaRPr lang="en-US" altLang="zh-TW"/>
          </a:p>
          <a:p>
            <a:pPr marL="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3318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6D9E2F-AE3A-DA38-6DFF-9A3C50D65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Calculate</a:t>
            </a:r>
            <a:r>
              <a:rPr lang="zh-TW" altLang="en-US"/>
              <a:t> </a:t>
            </a:r>
            <a:r>
              <a:rPr lang="en-US" altLang="zh-TW"/>
              <a:t>Flow</a:t>
            </a:r>
            <a:r>
              <a:rPr lang="zh-TW" altLang="en-US"/>
              <a:t>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9A34FED-DEEF-7C25-BC44-8E9A82F354B7}"/>
              </a:ext>
            </a:extLst>
          </p:cNvPr>
          <p:cNvSpPr txBox="1"/>
          <p:nvPr/>
        </p:nvSpPr>
        <p:spPr>
          <a:xfrm>
            <a:off x="461960" y="1009264"/>
            <a:ext cx="4139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Interface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coordinate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AD840F7-C65B-EA89-0BBE-D90B98BDE3C5}"/>
              </a:ext>
            </a:extLst>
          </p:cNvPr>
          <p:cNvSpPr txBox="1"/>
          <p:nvPr/>
        </p:nvSpPr>
        <p:spPr>
          <a:xfrm>
            <a:off x="1542366" y="1978966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SRT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transform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E020B6C-D038-FB0B-AF5B-6410A8CA8A0D}"/>
              </a:ext>
            </a:extLst>
          </p:cNvPr>
          <p:cNvSpPr txBox="1"/>
          <p:nvPr/>
        </p:nvSpPr>
        <p:spPr>
          <a:xfrm>
            <a:off x="4510085" y="1024117"/>
            <a:ext cx="4139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Orientation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coordinate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7F3D4A7-0371-988E-9F3E-80360E6BD38E}"/>
              </a:ext>
            </a:extLst>
          </p:cNvPr>
          <p:cNvSpPr txBox="1"/>
          <p:nvPr/>
        </p:nvSpPr>
        <p:spPr>
          <a:xfrm>
            <a:off x="790529" y="3001034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C_Z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F0DF9DC-60CB-A878-3DD4-C7C0D56B4CFA}"/>
              </a:ext>
            </a:extLst>
          </p:cNvPr>
          <p:cNvSpPr txBox="1"/>
          <p:nvPr/>
        </p:nvSpPr>
        <p:spPr>
          <a:xfrm>
            <a:off x="4096254" y="2989489"/>
            <a:ext cx="1009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C_GZ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AE5EADE-51D8-B628-6359-E3C8D521766E}"/>
              </a:ext>
            </a:extLst>
          </p:cNvPr>
          <p:cNvSpPr txBox="1"/>
          <p:nvPr/>
        </p:nvSpPr>
        <p:spPr>
          <a:xfrm>
            <a:off x="6319205" y="3001034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C_G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37B7931-4B14-9106-36A1-541153C6930B}"/>
              </a:ext>
            </a:extLst>
          </p:cNvPr>
          <p:cNvSpPr txBox="1"/>
          <p:nvPr/>
        </p:nvSpPr>
        <p:spPr>
          <a:xfrm>
            <a:off x="5590493" y="1983430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SRT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transform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850DC9-D245-2832-651C-3D3CB147B152}"/>
              </a:ext>
            </a:extLst>
          </p:cNvPr>
          <p:cNvSpPr/>
          <p:nvPr/>
        </p:nvSpPr>
        <p:spPr>
          <a:xfrm>
            <a:off x="1216478" y="1009264"/>
            <a:ext cx="2620205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CFC768-0CCA-733C-3A38-B721A2B57237}"/>
              </a:ext>
            </a:extLst>
          </p:cNvPr>
          <p:cNvSpPr/>
          <p:nvPr/>
        </p:nvSpPr>
        <p:spPr>
          <a:xfrm>
            <a:off x="5146710" y="1009263"/>
            <a:ext cx="287061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CF2518-667A-F024-BF4B-ABEF86C80E27}"/>
              </a:ext>
            </a:extLst>
          </p:cNvPr>
          <p:cNvSpPr/>
          <p:nvPr/>
        </p:nvSpPr>
        <p:spPr>
          <a:xfrm>
            <a:off x="1566859" y="1983430"/>
            <a:ext cx="1919292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2CBFFA-1ACE-0C34-7D07-16A314962F03}"/>
              </a:ext>
            </a:extLst>
          </p:cNvPr>
          <p:cNvSpPr/>
          <p:nvPr/>
        </p:nvSpPr>
        <p:spPr>
          <a:xfrm>
            <a:off x="5618129" y="1978966"/>
            <a:ext cx="1923206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13130D-E9B0-C79C-E86C-12A568B471EB}"/>
              </a:ext>
            </a:extLst>
          </p:cNvPr>
          <p:cNvSpPr/>
          <p:nvPr/>
        </p:nvSpPr>
        <p:spPr>
          <a:xfrm>
            <a:off x="1453875" y="3009198"/>
            <a:ext cx="651788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997517B-4ADD-EA3E-84A5-7E82934104CA}"/>
              </a:ext>
            </a:extLst>
          </p:cNvPr>
          <p:cNvSpPr/>
          <p:nvPr/>
        </p:nvSpPr>
        <p:spPr>
          <a:xfrm>
            <a:off x="4182830" y="3002216"/>
            <a:ext cx="836845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C8DD46-E47D-B0E7-C96F-2A17FFA3B161}"/>
              </a:ext>
            </a:extLst>
          </p:cNvPr>
          <p:cNvSpPr/>
          <p:nvPr/>
        </p:nvSpPr>
        <p:spPr>
          <a:xfrm>
            <a:off x="6961230" y="3001034"/>
            <a:ext cx="67150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2E175CD-DA59-9AF9-AF83-E9218D999DDA}"/>
              </a:ext>
            </a:extLst>
          </p:cNvPr>
          <p:cNvSpPr txBox="1"/>
          <p:nvPr/>
        </p:nvSpPr>
        <p:spPr>
          <a:xfrm>
            <a:off x="3612010" y="4038127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K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2930716-8DE4-FD9A-C708-34C1143F1133}"/>
              </a:ext>
            </a:extLst>
          </p:cNvPr>
          <p:cNvSpPr txBox="1"/>
          <p:nvPr/>
        </p:nvSpPr>
        <p:spPr>
          <a:xfrm>
            <a:off x="9206584" y="4038126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b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3FE546A-B1D1-FDA9-5709-68C8E84CADF5}"/>
              </a:ext>
            </a:extLst>
          </p:cNvPr>
          <p:cNvSpPr txBox="1"/>
          <p:nvPr/>
        </p:nvSpPr>
        <p:spPr>
          <a:xfrm>
            <a:off x="6577262" y="4959755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w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84A1BA7-5ADC-0F86-2266-AA254C07DC10}"/>
              </a:ext>
            </a:extLst>
          </p:cNvPr>
          <p:cNvSpPr/>
          <p:nvPr/>
        </p:nvSpPr>
        <p:spPr>
          <a:xfrm>
            <a:off x="4442045" y="4044538"/>
            <a:ext cx="318414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17C66C-C475-B310-F68D-579A1747ACCB}"/>
              </a:ext>
            </a:extLst>
          </p:cNvPr>
          <p:cNvSpPr/>
          <p:nvPr/>
        </p:nvSpPr>
        <p:spPr>
          <a:xfrm>
            <a:off x="10036616" y="4038126"/>
            <a:ext cx="318414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24E8B9-0553-0399-E035-91BF57D94489}"/>
              </a:ext>
            </a:extLst>
          </p:cNvPr>
          <p:cNvSpPr/>
          <p:nvPr/>
        </p:nvSpPr>
        <p:spPr>
          <a:xfrm>
            <a:off x="7407295" y="4974609"/>
            <a:ext cx="318414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8935968A-A8D8-0A5B-2FF8-EFBAEB56CCCA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 flipH="1">
            <a:off x="2526505" y="1470929"/>
            <a:ext cx="76" cy="512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8DA67697-51EE-4D76-2467-3C96C8AF28F8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1779769" y="2445095"/>
            <a:ext cx="746736" cy="564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D7554683-998C-934F-BAD2-A1FB12D813A9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flipH="1">
            <a:off x="6579732" y="1470928"/>
            <a:ext cx="2288" cy="508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17A59CDD-3381-579B-D91A-FD8FFBF16D84}"/>
              </a:ext>
            </a:extLst>
          </p:cNvPr>
          <p:cNvCxnSpPr>
            <a:stCxn id="17" idx="2"/>
            <a:endCxn id="20" idx="0"/>
          </p:cNvCxnSpPr>
          <p:nvPr/>
        </p:nvCxnSpPr>
        <p:spPr>
          <a:xfrm>
            <a:off x="6579732" y="2440631"/>
            <a:ext cx="717253" cy="56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F06F4060-AA69-F8AB-EFAE-3544078D52FF}"/>
              </a:ext>
            </a:extLst>
          </p:cNvPr>
          <p:cNvCxnSpPr>
            <a:stCxn id="19" idx="2"/>
            <a:endCxn id="24" idx="0"/>
          </p:cNvCxnSpPr>
          <p:nvPr/>
        </p:nvCxnSpPr>
        <p:spPr>
          <a:xfrm flipH="1">
            <a:off x="4601252" y="3463881"/>
            <a:ext cx="1" cy="580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B0C5CA14-22FF-CB82-C112-0B241CB29BDB}"/>
              </a:ext>
            </a:extLst>
          </p:cNvPr>
          <p:cNvCxnSpPr>
            <a:cxnSpLocks/>
            <a:stCxn id="18" idx="2"/>
            <a:endCxn id="24" idx="1"/>
          </p:cNvCxnSpPr>
          <p:nvPr/>
        </p:nvCxnSpPr>
        <p:spPr>
          <a:xfrm>
            <a:off x="1779769" y="3470863"/>
            <a:ext cx="2662276" cy="804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7D25E318-2D38-6108-FFCA-824FCC457AFF}"/>
              </a:ext>
            </a:extLst>
          </p:cNvPr>
          <p:cNvCxnSpPr>
            <a:cxnSpLocks/>
            <a:stCxn id="20" idx="2"/>
            <a:endCxn id="24" idx="3"/>
          </p:cNvCxnSpPr>
          <p:nvPr/>
        </p:nvCxnSpPr>
        <p:spPr>
          <a:xfrm flipH="1">
            <a:off x="4760459" y="3462699"/>
            <a:ext cx="2536526" cy="812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BD5E5C36-B5A3-491A-645E-0CBFE1DBC7AA}"/>
              </a:ext>
            </a:extLst>
          </p:cNvPr>
          <p:cNvSpPr txBox="1"/>
          <p:nvPr/>
        </p:nvSpPr>
        <p:spPr>
          <a:xfrm>
            <a:off x="8934232" y="1024117"/>
            <a:ext cx="24658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Orientation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data</a:t>
            </a:r>
            <a:endParaRPr lang="zh-TW" altLang="en-US" sz="2400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C33DBF13-629E-CA70-E8E4-8ACF3F00C844}"/>
              </a:ext>
            </a:extLst>
          </p:cNvPr>
          <p:cNvSpPr/>
          <p:nvPr/>
        </p:nvSpPr>
        <p:spPr>
          <a:xfrm>
            <a:off x="9158960" y="1024117"/>
            <a:ext cx="2073728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0B7BDABB-F6E0-65EC-40CB-577E5293A13F}"/>
              </a:ext>
            </a:extLst>
          </p:cNvPr>
          <p:cNvCxnSpPr>
            <a:stCxn id="77" idx="2"/>
            <a:endCxn id="22" idx="0"/>
          </p:cNvCxnSpPr>
          <p:nvPr/>
        </p:nvCxnSpPr>
        <p:spPr>
          <a:xfrm>
            <a:off x="10195824" y="1485782"/>
            <a:ext cx="0" cy="2552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499EA7DE-88C2-FACC-B75B-6346CC5061DB}"/>
              </a:ext>
            </a:extLst>
          </p:cNvPr>
          <p:cNvCxnSpPr>
            <a:stCxn id="24" idx="2"/>
            <a:endCxn id="26" idx="1"/>
          </p:cNvCxnSpPr>
          <p:nvPr/>
        </p:nvCxnSpPr>
        <p:spPr>
          <a:xfrm>
            <a:off x="4601252" y="4506203"/>
            <a:ext cx="2806043" cy="699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7F664DDB-184C-0687-EE27-3D8A34489A12}"/>
              </a:ext>
            </a:extLst>
          </p:cNvPr>
          <p:cNvCxnSpPr>
            <a:stCxn id="25" idx="2"/>
            <a:endCxn id="26" idx="3"/>
          </p:cNvCxnSpPr>
          <p:nvPr/>
        </p:nvCxnSpPr>
        <p:spPr>
          <a:xfrm flipH="1">
            <a:off x="7725709" y="4499791"/>
            <a:ext cx="2470114" cy="70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1734D193-AC4A-F310-9383-B5627E835411}"/>
              </a:ext>
            </a:extLst>
          </p:cNvPr>
          <p:cNvSpPr/>
          <p:nvPr/>
        </p:nvSpPr>
        <p:spPr>
          <a:xfrm>
            <a:off x="3035234" y="3006680"/>
            <a:ext cx="47387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29235263-B59F-5396-694C-CB1E814CF084}"/>
              </a:ext>
            </a:extLst>
          </p:cNvPr>
          <p:cNvSpPr txBox="1"/>
          <p:nvPr/>
        </p:nvSpPr>
        <p:spPr>
          <a:xfrm>
            <a:off x="2962176" y="2993953"/>
            <a:ext cx="651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lang="en-US" altLang="zh-TW" sz="2400" baseline="-25000">
                <a:solidFill>
                  <a:schemeClr val="accent1">
                    <a:lumMod val="75000"/>
                  </a:schemeClr>
                </a:solidFill>
              </a:rPr>
              <a:t>Z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066C7B2D-6C3D-D272-5FCA-EC290BE87BC8}"/>
              </a:ext>
            </a:extLst>
          </p:cNvPr>
          <p:cNvCxnSpPr>
            <a:stCxn id="16" idx="2"/>
            <a:endCxn id="104" idx="0"/>
          </p:cNvCxnSpPr>
          <p:nvPr/>
        </p:nvCxnSpPr>
        <p:spPr>
          <a:xfrm>
            <a:off x="2526505" y="2445095"/>
            <a:ext cx="761565" cy="548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單箭頭接點 116">
            <a:extLst>
              <a:ext uri="{FF2B5EF4-FFF2-40B4-BE49-F238E27FC236}">
                <a16:creationId xmlns:a16="http://schemas.microsoft.com/office/drawing/2014/main" id="{AD6A10DD-E5CA-FF28-ADFC-DA6573410366}"/>
              </a:ext>
            </a:extLst>
          </p:cNvPr>
          <p:cNvCxnSpPr>
            <a:stCxn id="104" idx="2"/>
          </p:cNvCxnSpPr>
          <p:nvPr/>
        </p:nvCxnSpPr>
        <p:spPr>
          <a:xfrm>
            <a:off x="3288070" y="3455618"/>
            <a:ext cx="1153975" cy="819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CC3CD21B-1759-FC77-D125-D931A597167E}"/>
              </a:ext>
            </a:extLst>
          </p:cNvPr>
          <p:cNvSpPr txBox="1"/>
          <p:nvPr/>
        </p:nvSpPr>
        <p:spPr>
          <a:xfrm>
            <a:off x="2047302" y="4042365"/>
            <a:ext cx="973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extent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635EE375-E301-2655-B3A0-AA34186C3447}"/>
              </a:ext>
            </a:extLst>
          </p:cNvPr>
          <p:cNvSpPr txBox="1"/>
          <p:nvPr/>
        </p:nvSpPr>
        <p:spPr>
          <a:xfrm>
            <a:off x="1787111" y="4974608"/>
            <a:ext cx="151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resolution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B5654FD4-CE4A-92F8-7A96-F400B523FFD5}"/>
              </a:ext>
            </a:extLst>
          </p:cNvPr>
          <p:cNvSpPr txBox="1"/>
          <p:nvPr/>
        </p:nvSpPr>
        <p:spPr>
          <a:xfrm>
            <a:off x="4135026" y="4959940"/>
            <a:ext cx="932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grid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9CF3F537-7A41-802A-A6BB-7D6A44FBEBE8}"/>
              </a:ext>
            </a:extLst>
          </p:cNvPr>
          <p:cNvSpPr/>
          <p:nvPr/>
        </p:nvSpPr>
        <p:spPr>
          <a:xfrm>
            <a:off x="4307491" y="4969714"/>
            <a:ext cx="587514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874DAB5A-8D3C-3F8F-EEB7-CDB397F6750B}"/>
              </a:ext>
            </a:extLst>
          </p:cNvPr>
          <p:cNvSpPr txBox="1"/>
          <p:nvPr/>
        </p:nvSpPr>
        <p:spPr>
          <a:xfrm>
            <a:off x="3612008" y="5873457"/>
            <a:ext cx="197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SRT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transform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E27FF09F-108B-ACD9-B0DB-48BDA17503A7}"/>
              </a:ext>
            </a:extLst>
          </p:cNvPr>
          <p:cNvSpPr/>
          <p:nvPr/>
        </p:nvSpPr>
        <p:spPr>
          <a:xfrm>
            <a:off x="3641601" y="5879868"/>
            <a:ext cx="1919292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BA1119EE-BFD9-1E36-3428-AAB3C095763B}"/>
              </a:ext>
            </a:extLst>
          </p:cNvPr>
          <p:cNvSpPr txBox="1"/>
          <p:nvPr/>
        </p:nvSpPr>
        <p:spPr>
          <a:xfrm>
            <a:off x="6754020" y="5873455"/>
            <a:ext cx="162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Scalar</a:t>
            </a:r>
            <a:r>
              <a:rPr lang="zh-TW" altLang="en-US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field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6728730B-9907-278B-DBEB-B116E7D5B121}"/>
              </a:ext>
            </a:extLst>
          </p:cNvPr>
          <p:cNvSpPr/>
          <p:nvPr/>
        </p:nvSpPr>
        <p:spPr>
          <a:xfrm>
            <a:off x="6807559" y="5873455"/>
            <a:ext cx="151788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03F92CA2-D2A3-BC15-160D-B5EF5A20B173}"/>
              </a:ext>
            </a:extLst>
          </p:cNvPr>
          <p:cNvSpPr/>
          <p:nvPr/>
        </p:nvSpPr>
        <p:spPr>
          <a:xfrm>
            <a:off x="2121310" y="4042366"/>
            <a:ext cx="82522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5C85CE42-B40C-771A-59DD-92D53B63E00F}"/>
              </a:ext>
            </a:extLst>
          </p:cNvPr>
          <p:cNvSpPr/>
          <p:nvPr/>
        </p:nvSpPr>
        <p:spPr>
          <a:xfrm>
            <a:off x="1881251" y="4969714"/>
            <a:ext cx="130533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單箭頭接點 132">
            <a:extLst>
              <a:ext uri="{FF2B5EF4-FFF2-40B4-BE49-F238E27FC236}">
                <a16:creationId xmlns:a16="http://schemas.microsoft.com/office/drawing/2014/main" id="{DA9726AF-3846-9BDD-6D9E-0588A759B1CF}"/>
              </a:ext>
            </a:extLst>
          </p:cNvPr>
          <p:cNvCxnSpPr>
            <a:stCxn id="124" idx="2"/>
            <a:endCxn id="127" idx="0"/>
          </p:cNvCxnSpPr>
          <p:nvPr/>
        </p:nvCxnSpPr>
        <p:spPr>
          <a:xfrm flipH="1">
            <a:off x="4601247" y="5431379"/>
            <a:ext cx="1" cy="448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單箭頭接點 136">
            <a:extLst>
              <a:ext uri="{FF2B5EF4-FFF2-40B4-BE49-F238E27FC236}">
                <a16:creationId xmlns:a16="http://schemas.microsoft.com/office/drawing/2014/main" id="{BB341FD9-685A-1680-BC1F-F1AB138DDDE5}"/>
              </a:ext>
            </a:extLst>
          </p:cNvPr>
          <p:cNvCxnSpPr>
            <a:cxnSpLocks/>
            <a:stCxn id="126" idx="3"/>
            <a:endCxn id="129" idx="1"/>
          </p:cNvCxnSpPr>
          <p:nvPr/>
        </p:nvCxnSpPr>
        <p:spPr>
          <a:xfrm flipV="1">
            <a:off x="5590487" y="6104288"/>
            <a:ext cx="121707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>
            <a:extLst>
              <a:ext uri="{FF2B5EF4-FFF2-40B4-BE49-F238E27FC236}">
                <a16:creationId xmlns:a16="http://schemas.microsoft.com/office/drawing/2014/main" id="{0095AF3C-F144-F935-2CDF-9340B048CE7D}"/>
              </a:ext>
            </a:extLst>
          </p:cNvPr>
          <p:cNvCxnSpPr>
            <a:stCxn id="130" idx="3"/>
            <a:endCxn id="124" idx="1"/>
          </p:cNvCxnSpPr>
          <p:nvPr/>
        </p:nvCxnSpPr>
        <p:spPr>
          <a:xfrm>
            <a:off x="2946530" y="4273199"/>
            <a:ext cx="1360961" cy="927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單箭頭接點 145">
            <a:extLst>
              <a:ext uri="{FF2B5EF4-FFF2-40B4-BE49-F238E27FC236}">
                <a16:creationId xmlns:a16="http://schemas.microsoft.com/office/drawing/2014/main" id="{572C2EA4-2AF7-284E-9CD8-15DED361361E}"/>
              </a:ext>
            </a:extLst>
          </p:cNvPr>
          <p:cNvCxnSpPr>
            <a:stCxn id="131" idx="3"/>
            <a:endCxn id="124" idx="1"/>
          </p:cNvCxnSpPr>
          <p:nvPr/>
        </p:nvCxnSpPr>
        <p:spPr>
          <a:xfrm>
            <a:off x="3186590" y="5200547"/>
            <a:ext cx="11209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單箭頭接點 147">
            <a:extLst>
              <a:ext uri="{FF2B5EF4-FFF2-40B4-BE49-F238E27FC236}">
                <a16:creationId xmlns:a16="http://schemas.microsoft.com/office/drawing/2014/main" id="{E0D7C87E-182D-154B-5D19-D8D610C7708B}"/>
              </a:ext>
            </a:extLst>
          </p:cNvPr>
          <p:cNvCxnSpPr>
            <a:stCxn id="26" idx="2"/>
            <a:endCxn id="129" idx="0"/>
          </p:cNvCxnSpPr>
          <p:nvPr/>
        </p:nvCxnSpPr>
        <p:spPr>
          <a:xfrm flipH="1">
            <a:off x="7566501" y="5436274"/>
            <a:ext cx="1" cy="437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>
            <a:extLst>
              <a:ext uri="{FF2B5EF4-FFF2-40B4-BE49-F238E27FC236}">
                <a16:creationId xmlns:a16="http://schemas.microsoft.com/office/drawing/2014/main" id="{54BDA60B-3056-703F-9328-88F0F7D5A8BA}"/>
              </a:ext>
            </a:extLst>
          </p:cNvPr>
          <p:cNvSpPr/>
          <p:nvPr/>
        </p:nvSpPr>
        <p:spPr>
          <a:xfrm>
            <a:off x="9786238" y="5873454"/>
            <a:ext cx="832935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8A3CCE89-AC00-EFDA-5BFF-09B6C669C9F9}"/>
              </a:ext>
            </a:extLst>
          </p:cNvPr>
          <p:cNvSpPr txBox="1"/>
          <p:nvPr/>
        </p:nvSpPr>
        <p:spPr>
          <a:xfrm>
            <a:off x="9383343" y="5873454"/>
            <a:ext cx="162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labels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61" name="直線單箭頭接點 160">
            <a:extLst>
              <a:ext uri="{FF2B5EF4-FFF2-40B4-BE49-F238E27FC236}">
                <a16:creationId xmlns:a16="http://schemas.microsoft.com/office/drawing/2014/main" id="{D40A7D32-BEF3-653C-9764-C0CBC4FAFC50}"/>
              </a:ext>
            </a:extLst>
          </p:cNvPr>
          <p:cNvCxnSpPr>
            <a:cxnSpLocks/>
            <a:stCxn id="129" idx="3"/>
          </p:cNvCxnSpPr>
          <p:nvPr/>
        </p:nvCxnSpPr>
        <p:spPr>
          <a:xfrm>
            <a:off x="8325442" y="6104288"/>
            <a:ext cx="1453913" cy="6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FACDD3E2-889A-4D1F-0549-0696E0CD97D2}"/>
              </a:ext>
            </a:extLst>
          </p:cNvPr>
          <p:cNvSpPr txBox="1"/>
          <p:nvPr/>
        </p:nvSpPr>
        <p:spPr>
          <a:xfrm>
            <a:off x="5172623" y="2991969"/>
            <a:ext cx="1390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lang="zh-TW" altLang="en-US" sz="2400" b="0" i="0" baseline="-25000">
                <a:solidFill>
                  <a:schemeClr val="accent1">
                    <a:lumMod val="75000"/>
                  </a:schemeClr>
                </a:solidFill>
                <a:effectLst/>
              </a:rPr>
              <a:t> ∂</a:t>
            </a:r>
            <a:r>
              <a:rPr lang="en-US" altLang="zh-TW" sz="2400" baseline="-25000">
                <a:solidFill>
                  <a:schemeClr val="accent1">
                    <a:lumMod val="75000"/>
                  </a:schemeClr>
                </a:solidFill>
              </a:rPr>
              <a:t>Z/</a:t>
            </a:r>
            <a:r>
              <a:rPr lang="zh-TW" altLang="en-US" sz="2400" b="0" i="0" baseline="-25000">
                <a:solidFill>
                  <a:schemeClr val="accent1">
                    <a:lumMod val="75000"/>
                  </a:schemeClr>
                </a:solidFill>
                <a:effectLst/>
              </a:rPr>
              <a:t> ∂</a:t>
            </a:r>
            <a:r>
              <a:rPr lang="en-US" altLang="zh-TW" sz="2400" b="0" i="0" baseline="-25000">
                <a:solidFill>
                  <a:schemeClr val="accent1">
                    <a:lumMod val="75000"/>
                  </a:schemeClr>
                </a:solidFill>
                <a:effectLst/>
              </a:rPr>
              <a:t>u</a:t>
            </a:r>
            <a:endParaRPr lang="zh-TW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F60BE65C-D9AD-D61E-B7D7-85F10CC3689C}"/>
              </a:ext>
            </a:extLst>
          </p:cNvPr>
          <p:cNvSpPr/>
          <p:nvPr/>
        </p:nvSpPr>
        <p:spPr>
          <a:xfrm>
            <a:off x="5432846" y="3011718"/>
            <a:ext cx="88635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9" name="直線單箭頭接點 168">
            <a:extLst>
              <a:ext uri="{FF2B5EF4-FFF2-40B4-BE49-F238E27FC236}">
                <a16:creationId xmlns:a16="http://schemas.microsoft.com/office/drawing/2014/main" id="{EF11F3D5-D51A-F6F4-7C1D-7E0F9050F138}"/>
              </a:ext>
            </a:extLst>
          </p:cNvPr>
          <p:cNvCxnSpPr>
            <a:cxnSpLocks/>
            <a:stCxn id="167" idx="2"/>
            <a:endCxn id="24" idx="3"/>
          </p:cNvCxnSpPr>
          <p:nvPr/>
        </p:nvCxnSpPr>
        <p:spPr>
          <a:xfrm flipH="1">
            <a:off x="4760459" y="3473383"/>
            <a:ext cx="1115567" cy="801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單箭頭接點 179">
            <a:extLst>
              <a:ext uri="{FF2B5EF4-FFF2-40B4-BE49-F238E27FC236}">
                <a16:creationId xmlns:a16="http://schemas.microsoft.com/office/drawing/2014/main" id="{A7CF825C-E35A-8AB2-30E9-223DBD03A3C5}"/>
              </a:ext>
            </a:extLst>
          </p:cNvPr>
          <p:cNvCxnSpPr>
            <a:stCxn id="17" idx="2"/>
            <a:endCxn id="167" idx="0"/>
          </p:cNvCxnSpPr>
          <p:nvPr/>
        </p:nvCxnSpPr>
        <p:spPr>
          <a:xfrm flipH="1">
            <a:off x="5876026" y="2440631"/>
            <a:ext cx="703706" cy="57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接點 189">
            <a:extLst>
              <a:ext uri="{FF2B5EF4-FFF2-40B4-BE49-F238E27FC236}">
                <a16:creationId xmlns:a16="http://schemas.microsoft.com/office/drawing/2014/main" id="{20127A20-C552-8A64-5C43-10AAEB6F2DD4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3486151" y="2209799"/>
            <a:ext cx="2131978" cy="4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單箭頭接點 191">
            <a:extLst>
              <a:ext uri="{FF2B5EF4-FFF2-40B4-BE49-F238E27FC236}">
                <a16:creationId xmlns:a16="http://schemas.microsoft.com/office/drawing/2014/main" id="{EEAE5D97-6B89-C6D9-CFCB-54C4D41DCAD3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4601247" y="2209799"/>
            <a:ext cx="6" cy="792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線單箭頭接點 194">
            <a:extLst>
              <a:ext uri="{FF2B5EF4-FFF2-40B4-BE49-F238E27FC236}">
                <a16:creationId xmlns:a16="http://schemas.microsoft.com/office/drawing/2014/main" id="{9DEA0E2A-FBD3-400A-F3DB-9CA831448791}"/>
              </a:ext>
            </a:extLst>
          </p:cNvPr>
          <p:cNvCxnSpPr>
            <a:endCxn id="129" idx="1"/>
          </p:cNvCxnSpPr>
          <p:nvPr/>
        </p:nvCxnSpPr>
        <p:spPr>
          <a:xfrm>
            <a:off x="4601247" y="2209799"/>
            <a:ext cx="2206312" cy="3894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031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9BDD8B-2B38-48E6-9020-E698D5BF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Grid</a:t>
            </a:r>
            <a:endParaRPr lang="zh-TW" altLang="en-US"/>
          </a:p>
        </p:txBody>
      </p:sp>
      <p:sp>
        <p:nvSpPr>
          <p:cNvPr id="5" name="左大括弧 4">
            <a:extLst>
              <a:ext uri="{FF2B5EF4-FFF2-40B4-BE49-F238E27FC236}">
                <a16:creationId xmlns:a16="http://schemas.microsoft.com/office/drawing/2014/main" id="{4825B0E8-DF52-44EB-8155-0A7E1CFB9DCB}"/>
              </a:ext>
            </a:extLst>
          </p:cNvPr>
          <p:cNvSpPr/>
          <p:nvPr/>
        </p:nvSpPr>
        <p:spPr>
          <a:xfrm>
            <a:off x="4008301" y="3658390"/>
            <a:ext cx="258311" cy="2243814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n w="9525">
                <a:solidFill>
                  <a:schemeClr val="tx1"/>
                </a:solidFill>
              </a:ln>
            </a:endParaRPr>
          </a:p>
        </p:txBody>
      </p:sp>
      <p:sp>
        <p:nvSpPr>
          <p:cNvPr id="6" name="左大括弧 5">
            <a:extLst>
              <a:ext uri="{FF2B5EF4-FFF2-40B4-BE49-F238E27FC236}">
                <a16:creationId xmlns:a16="http://schemas.microsoft.com/office/drawing/2014/main" id="{1FD7AD5D-258A-4895-9B6B-751ABF67C0D8}"/>
              </a:ext>
            </a:extLst>
          </p:cNvPr>
          <p:cNvSpPr/>
          <p:nvPr/>
        </p:nvSpPr>
        <p:spPr>
          <a:xfrm rot="16200000">
            <a:off x="5425482" y="4937184"/>
            <a:ext cx="288758" cy="2366734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n w="9525"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C62FE13-FFF1-45FB-B170-4F82A5985E44}"/>
                  </a:ext>
                </a:extLst>
              </p:cNvPr>
              <p:cNvSpPr txBox="1"/>
              <p:nvPr/>
            </p:nvSpPr>
            <p:spPr>
              <a:xfrm>
                <a:off x="2911054" y="4549464"/>
                <a:ext cx="13555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𝑟𝑒𝑠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C62FE13-FFF1-45FB-B170-4F82A5985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054" y="4549464"/>
                <a:ext cx="135555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7C381A5-A53D-48B0-879A-43DCF906AE56}"/>
                  </a:ext>
                </a:extLst>
              </p:cNvPr>
              <p:cNvSpPr txBox="1"/>
              <p:nvPr/>
            </p:nvSpPr>
            <p:spPr>
              <a:xfrm>
                <a:off x="4974642" y="6216153"/>
                <a:ext cx="13555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𝑟𝑒𝑠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7C381A5-A53D-48B0-879A-43DCF906A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642" y="6216153"/>
                <a:ext cx="135555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內容版面配置區 2">
                <a:extLst>
                  <a:ext uri="{FF2B5EF4-FFF2-40B4-BE49-F238E27FC236}">
                    <a16:creationId xmlns:a16="http://schemas.microsoft.com/office/drawing/2014/main" id="{5044A6A0-7F73-4F45-BAB3-28C681B227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9467" y="1219201"/>
                <a:ext cx="11463866" cy="1299410"/>
              </a:xfrm>
            </p:spPr>
            <p:txBody>
              <a:bodyPr/>
              <a:lstStyle/>
              <a:p>
                <a:r>
                  <a:rPr lang="en-US" altLang="zh-TW" b="0">
                    <a:latin typeface="+mn-lt"/>
                  </a:rPr>
                  <a:t>Calculate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each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voxel(pixel)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by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its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center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coordinate.</a:t>
                </a:r>
              </a:p>
              <a:p>
                <a:r>
                  <a:rPr lang="en-US" altLang="zh-TW" b="0">
                    <a:latin typeface="+mn-lt"/>
                  </a:rPr>
                  <a:t>Set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of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these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coordinate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call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grid.</a:t>
                </a:r>
              </a:p>
              <a:p>
                <a:r>
                  <a:rPr lang="en-US" altLang="zh-TW" b="0">
                    <a:latin typeface="+mn-lt"/>
                  </a:rPr>
                  <a:t>Resolution</a:t>
                </a:r>
                <a:r>
                  <a:rPr lang="zh-TW" altLang="en-US" b="0">
                    <a:latin typeface="+mn-lt"/>
                  </a:rPr>
                  <a:t> </a:t>
                </a:r>
                <a:r>
                  <a:rPr lang="en-US" altLang="zh-TW" b="0">
                    <a:latin typeface="+mn-lt"/>
                  </a:rPr>
                  <a:t>is</a:t>
                </a:r>
                <a:r>
                  <a:rPr lang="zh-TW" altLang="en-US" b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b="0">
                    <a:latin typeface="+mn-lt"/>
                  </a:rPr>
                  <a:t>.</a:t>
                </a:r>
              </a:p>
              <a:p>
                <a:endParaRPr lang="zh-TW" altLang="en-US"/>
              </a:p>
            </p:txBody>
          </p:sp>
        </mc:Choice>
        <mc:Fallback xmlns="">
          <p:sp>
            <p:nvSpPr>
              <p:cNvPr id="9" name="內容版面配置區 2">
                <a:extLst>
                  <a:ext uri="{FF2B5EF4-FFF2-40B4-BE49-F238E27FC236}">
                    <a16:creationId xmlns:a16="http://schemas.microsoft.com/office/drawing/2014/main" id="{5044A6A0-7F73-4F45-BAB3-28C681B227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9467" y="1219201"/>
                <a:ext cx="11463866" cy="1299410"/>
              </a:xfrm>
              <a:blipFill>
                <a:blip r:embed="rId4"/>
                <a:stretch>
                  <a:fillRect l="-106" t="-6573" b="-154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51002EA5-D009-42F2-AA7D-45FD5B9703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493" y="2776576"/>
            <a:ext cx="3247564" cy="3125628"/>
          </a:xfrm>
          <a:prstGeom prst="rect">
            <a:avLst/>
          </a:prstGeom>
        </p:spPr>
      </p:pic>
      <p:sp>
        <p:nvSpPr>
          <p:cNvPr id="63" name="左大括弧 62">
            <a:extLst>
              <a:ext uri="{FF2B5EF4-FFF2-40B4-BE49-F238E27FC236}">
                <a16:creationId xmlns:a16="http://schemas.microsoft.com/office/drawing/2014/main" id="{133430C5-06D7-453E-83CC-5CEB25C68A73}"/>
              </a:ext>
            </a:extLst>
          </p:cNvPr>
          <p:cNvSpPr/>
          <p:nvPr/>
        </p:nvSpPr>
        <p:spPr>
          <a:xfrm rot="13494397">
            <a:off x="7259734" y="5030051"/>
            <a:ext cx="288758" cy="1226326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n w="9525"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01E843E1-4A18-4BEE-BCD9-4C2B6E0F6094}"/>
                  </a:ext>
                </a:extLst>
              </p:cNvPr>
              <p:cNvSpPr txBox="1"/>
              <p:nvPr/>
            </p:nvSpPr>
            <p:spPr>
              <a:xfrm>
                <a:off x="7108868" y="5725313"/>
                <a:ext cx="1355558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𝑟𝑒𝑠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01E843E1-4A18-4BEE-BCD9-4C2B6E0F6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868" y="5725313"/>
                <a:ext cx="1355558" cy="490840"/>
              </a:xfrm>
              <a:prstGeom prst="rect">
                <a:avLst/>
              </a:prstGeom>
              <a:blipFill>
                <a:blip r:embed="rId6"/>
                <a:stretch>
                  <a:fillRect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826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B2E134-CE5B-46F5-A448-8AE773F78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0">
                <a:latin typeface="+mn-lt"/>
              </a:rPr>
              <a:t>Output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values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are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solidFill>
                  <a:srgbClr val="FF0000"/>
                </a:solidFill>
                <a:latin typeface="+mn-lt"/>
              </a:rPr>
              <a:t>meaningless</a:t>
            </a:r>
            <a:r>
              <a:rPr lang="en-US" altLang="zh-TW" b="0">
                <a:latin typeface="+mn-lt"/>
              </a:rPr>
              <a:t>.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We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only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care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about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their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solidFill>
                  <a:srgbClr val="FF0000"/>
                </a:solidFill>
                <a:latin typeface="+mn-lt"/>
              </a:rPr>
              <a:t>relative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value.</a:t>
            </a:r>
          </a:p>
          <a:p>
            <a:r>
              <a:rPr lang="en-US" altLang="zh-TW" b="0">
                <a:latin typeface="+mn-lt"/>
              </a:rPr>
              <a:t>Replace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values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difference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section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with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1,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2,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3,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…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from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big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to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small.</a:t>
            </a:r>
          </a:p>
          <a:p>
            <a:r>
              <a:rPr lang="en-US" altLang="zh-TW" b="0">
                <a:latin typeface="+mn-lt"/>
              </a:rPr>
              <a:t>The resulting labels show no discrepancy when compared with GemPy’s implementation.</a:t>
            </a:r>
            <a:endParaRPr lang="zh-TW" altLang="en-US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67F5CFFF-2D66-4B83-9A73-91675586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550334"/>
          </a:xfrm>
        </p:spPr>
        <p:txBody>
          <a:bodyPr/>
          <a:lstStyle/>
          <a:p>
            <a:r>
              <a:rPr lang="en-US" altLang="zh-TW"/>
              <a:t>Output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B042B7F-0BE9-4DDF-B646-261D9E761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343" y="3429000"/>
            <a:ext cx="6192114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74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38145B4-C0C6-441B-814D-59033E84F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2D</a:t>
            </a:r>
            <a:r>
              <a:rPr lang="zh-TW" altLang="en-US"/>
              <a:t> </a:t>
            </a:r>
            <a:r>
              <a:rPr lang="en-US" altLang="zh-TW"/>
              <a:t>Rendering</a:t>
            </a:r>
            <a:br>
              <a:rPr lang="en-US" altLang="zh-TW"/>
            </a:br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7903E67-3D64-4FE8-B73A-300CFA92D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64" y="2037624"/>
            <a:ext cx="5538036" cy="472404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8320CE9-0C1B-4106-9998-AD3B98843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2056785"/>
            <a:ext cx="5325603" cy="4801215"/>
          </a:xfrm>
          <a:prstGeom prst="rect">
            <a:avLst/>
          </a:prstGeom>
        </p:spPr>
      </p:pic>
      <p:sp>
        <p:nvSpPr>
          <p:cNvPr id="20" name="內容版面配置區 2">
            <a:extLst>
              <a:ext uri="{FF2B5EF4-FFF2-40B4-BE49-F238E27FC236}">
                <a16:creationId xmlns:a16="http://schemas.microsoft.com/office/drawing/2014/main" id="{FFACCEA7-EC44-45F6-B43C-0AA6FD78B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1162049"/>
          </a:xfrm>
        </p:spPr>
        <p:txBody>
          <a:bodyPr/>
          <a:lstStyle/>
          <a:p>
            <a:r>
              <a:rPr lang="en-US" altLang="zh-TW" b="0">
                <a:latin typeface="+mn-lt"/>
              </a:rPr>
              <a:t>Rendering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colors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for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each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voxel(pixel)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by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label.</a:t>
            </a:r>
          </a:p>
          <a:p>
            <a:r>
              <a:rPr lang="en-US" altLang="zh-TW" b="0">
                <a:latin typeface="+mn-lt"/>
              </a:rPr>
              <a:t>The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plot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2D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points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3D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space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so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points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will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not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exactly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interface.</a:t>
            </a:r>
          </a:p>
        </p:txBody>
      </p:sp>
    </p:spTree>
    <p:extLst>
      <p:ext uri="{BB962C8B-B14F-4D97-AF65-F5344CB8AC3E}">
        <p14:creationId xmlns:p14="http://schemas.microsoft.com/office/powerpoint/2010/main" val="420667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44200B87-9825-4683-9E33-82771504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516467"/>
            <a:ext cx="11954934" cy="550334"/>
          </a:xfrm>
        </p:spPr>
        <p:txBody>
          <a:bodyPr/>
          <a:lstStyle/>
          <a:p>
            <a:r>
              <a:rPr lang="en-US" altLang="zh-TW"/>
              <a:t>3D</a:t>
            </a:r>
            <a:r>
              <a:rPr lang="zh-TW" altLang="en-US"/>
              <a:t> </a:t>
            </a:r>
            <a:r>
              <a:rPr lang="en-US" altLang="zh-TW"/>
              <a:t>Rendering</a:t>
            </a:r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FB531CF-734B-4387-BB56-709A8CFF2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042" y="1234976"/>
            <a:ext cx="5317958" cy="527348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3B5EED3-FE25-4A14-B4BA-6DFE97D2E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20389"/>
            <a:ext cx="4749949" cy="513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44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3E49AC-5BFB-47D5-AB29-6F69FF935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Profiling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FEE269-C971-4D33-B067-C2E129178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0">
                <a:latin typeface="+mn-lt"/>
              </a:rPr>
              <a:t>Evaluating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the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scalar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field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takes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the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most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time.</a:t>
            </a:r>
          </a:p>
          <a:p>
            <a:r>
              <a:rPr lang="en-US" altLang="zh-TW" b="0">
                <a:latin typeface="+mn-lt"/>
              </a:rPr>
              <a:t>Establish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kriging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matrix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solve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weight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take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very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small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time.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E8E8CF4-94FB-EA47-0ABA-160A028F0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5" y="2519362"/>
            <a:ext cx="657225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68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867DD1-F709-4AD6-A6EE-B29549B5F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Horner’s</a:t>
            </a:r>
            <a:r>
              <a:rPr lang="zh-TW" altLang="en-US"/>
              <a:t> </a:t>
            </a:r>
            <a:r>
              <a:rPr lang="en-US" altLang="zh-TW"/>
              <a:t>Method</a:t>
            </a:r>
            <a:endParaRPr lang="zh-TW" altLang="en-US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9A07C14E-ECF7-4C41-A0CE-73245E8A2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1"/>
            <a:ext cx="11463866" cy="946483"/>
          </a:xfrm>
        </p:spPr>
        <p:txBody>
          <a:bodyPr/>
          <a:lstStyle/>
          <a:p>
            <a:r>
              <a:rPr lang="en-US" altLang="zh-TW" b="0">
                <a:latin typeface="+mj-lt"/>
              </a:rPr>
              <a:t>Use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MATLAB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to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simulate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10,000,000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times.</a:t>
            </a:r>
          </a:p>
          <a:p>
            <a:r>
              <a:rPr lang="en-US" altLang="zh-TW" b="0">
                <a:latin typeface="+mj-lt"/>
              </a:rPr>
              <a:t>Horner’s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method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speedup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97.14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times.</a:t>
            </a:r>
          </a:p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5CBE49E-B16C-4610-8AF9-E2958289F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541" y="2923029"/>
            <a:ext cx="4930918" cy="10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78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586B88-A5EF-98BD-C404-C49883E5B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Systolic</a:t>
            </a:r>
            <a:r>
              <a:rPr lang="zh-TW" altLang="en-US"/>
              <a:t> </a:t>
            </a:r>
            <a:r>
              <a:rPr lang="en-US" altLang="zh-TW"/>
              <a:t>Array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69E4CA-76CA-3330-4CE4-A2D4A1637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1459247"/>
          </a:xfrm>
        </p:spPr>
        <p:txBody>
          <a:bodyPr/>
          <a:lstStyle/>
          <a:p>
            <a:r>
              <a:rPr lang="en-US" altLang="zh-TW" b="0">
                <a:latin typeface="+mn-lt"/>
              </a:rPr>
              <a:t>a,b,…,i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x,y,z,1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are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16-bit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signed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integers.</a:t>
            </a:r>
          </a:p>
          <a:p>
            <a:r>
              <a:rPr lang="en-US" altLang="zh-TW" b="0">
                <a:latin typeface="+mn-lt"/>
              </a:rPr>
              <a:t>Group them in fours and pack them into a 64-bit signed integer.</a:t>
            </a:r>
          </a:p>
          <a:p>
            <a:r>
              <a:rPr lang="en-US" altLang="zh-TW" b="0">
                <a:latin typeface="+mn-lt"/>
              </a:rPr>
              <a:t>First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3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clock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send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matrix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value,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then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each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clock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send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vector.</a:t>
            </a:r>
          </a:p>
          <a:p>
            <a:endParaRPr lang="en-US" altLang="zh-TW" b="0">
              <a:latin typeface="+mn-lt"/>
            </a:endParaRPr>
          </a:p>
          <a:p>
            <a:endParaRPr lang="en-US" altLang="zh-TW" dirty="0"/>
          </a:p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AB43AA7-58EF-C4B3-9E91-96D65E7832E9}"/>
                  </a:ext>
                </a:extLst>
              </p:cNvPr>
              <p:cNvSpPr txBox="1"/>
              <p:nvPr/>
            </p:nvSpPr>
            <p:spPr>
              <a:xfrm>
                <a:off x="2012446" y="5879868"/>
                <a:ext cx="81671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𝑣𝑒𝑐𝑡𝑜𝑟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=(1≪48)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≪32</m:t>
                              </m:r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≪16)|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={1,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AB43AA7-58EF-C4B3-9E91-96D65E783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446" y="5879868"/>
                <a:ext cx="8167108" cy="461665"/>
              </a:xfrm>
              <a:prstGeom prst="rect">
                <a:avLst/>
              </a:prstGeom>
              <a:blipFill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926AAFF-6E75-7B72-8D49-6B36916099AF}"/>
                  </a:ext>
                </a:extLst>
              </p:cNvPr>
              <p:cNvSpPr txBox="1"/>
              <p:nvPr/>
            </p:nvSpPr>
            <p:spPr>
              <a:xfrm>
                <a:off x="3036434" y="2560017"/>
                <a:ext cx="6119132" cy="1459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𝑡𝑟𝑎𝑛𝑠𝑓𝑜𝑟𝑚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926AAFF-6E75-7B72-8D49-6B3691609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434" y="2560017"/>
                <a:ext cx="6119132" cy="1459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58A75B7-D8AD-C1C7-73CE-5CE2A353BC29}"/>
                  </a:ext>
                </a:extLst>
              </p:cNvPr>
              <p:cNvSpPr txBox="1"/>
              <p:nvPr/>
            </p:nvSpPr>
            <p:spPr>
              <a:xfrm>
                <a:off x="1299482" y="4286061"/>
                <a:ext cx="95930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𝑚𝑎𝑡𝑟𝑖𝑥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𝑣𝑎𝑙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≪48)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≪32</m:t>
                              </m:r>
                            </m:e>
                          </m:d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≪16)|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58A75B7-D8AD-C1C7-73CE-5CE2A353B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482" y="4286061"/>
                <a:ext cx="9593036" cy="461665"/>
              </a:xfrm>
              <a:prstGeom prst="rect">
                <a:avLst/>
              </a:prstGeom>
              <a:blipFill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79FCE83-A734-2238-D556-51B014C63AE3}"/>
                  </a:ext>
                </a:extLst>
              </p:cNvPr>
              <p:cNvSpPr txBox="1"/>
              <p:nvPr/>
            </p:nvSpPr>
            <p:spPr>
              <a:xfrm>
                <a:off x="1299482" y="4744000"/>
                <a:ext cx="95930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𝑚𝑎𝑡𝑟𝑖𝑥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𝑣𝑎𝑙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2=(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≪48)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≪32</m:t>
                              </m:r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≪16)|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79FCE83-A734-2238-D556-51B014C63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482" y="4744000"/>
                <a:ext cx="9593036" cy="461665"/>
              </a:xfrm>
              <a:prstGeom prst="rect">
                <a:avLst/>
              </a:prstGeom>
              <a:blipFill>
                <a:blip r:embed="rId5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694118E-309E-1584-EF7F-351702774348}"/>
                  </a:ext>
                </a:extLst>
              </p:cNvPr>
              <p:cNvSpPr txBox="1"/>
              <p:nvPr/>
            </p:nvSpPr>
            <p:spPr>
              <a:xfrm>
                <a:off x="1299482" y="5167663"/>
                <a:ext cx="95930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𝑚𝑎𝑡𝑟𝑖𝑥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𝑣𝑎𝑙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3=(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≪48)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≪32</m:t>
                              </m:r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≪16)|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694118E-309E-1584-EF7F-351702774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482" y="5167663"/>
                <a:ext cx="9593036" cy="461665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027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AC2492-F47A-AC8C-D7B4-78ABEC60F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Systolic</a:t>
            </a:r>
            <a:r>
              <a:rPr lang="zh-TW" altLang="en-US"/>
              <a:t> </a:t>
            </a:r>
            <a:r>
              <a:rPr lang="en-US" altLang="zh-TW"/>
              <a:t>Array</a:t>
            </a:r>
            <a:endParaRPr lang="zh-TW" altLang="en-US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C971FDAD-CE25-3EFE-4882-59132B9D72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621721"/>
              </p:ext>
            </p:extLst>
          </p:nvPr>
        </p:nvGraphicFramePr>
        <p:xfrm>
          <a:off x="1813378" y="1760220"/>
          <a:ext cx="8565243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986">
                  <a:extLst>
                    <a:ext uri="{9D8B030D-6E8A-4147-A177-3AD203B41FA5}">
                      <a16:colId xmlns:a16="http://schemas.microsoft.com/office/drawing/2014/main" val="71155852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4003463302"/>
                    </a:ext>
                  </a:extLst>
                </a:gridCol>
                <a:gridCol w="530678">
                  <a:extLst>
                    <a:ext uri="{9D8B030D-6E8A-4147-A177-3AD203B41FA5}">
                      <a16:colId xmlns:a16="http://schemas.microsoft.com/office/drawing/2014/main" val="2229101463"/>
                    </a:ext>
                  </a:extLst>
                </a:gridCol>
                <a:gridCol w="5731329">
                  <a:extLst>
                    <a:ext uri="{9D8B030D-6E8A-4147-A177-3AD203B41FA5}">
                      <a16:colId xmlns:a16="http://schemas.microsoft.com/office/drawing/2014/main" val="3072311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Signal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Width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I/O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Simple Description 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831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clk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I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Asynchronous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rising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edge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clock</a:t>
                      </a:r>
                      <a:r>
                        <a:rPr lang="zh-TW" altLang="en-US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877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arstn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I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/>
                        <a:t>Asynchronous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active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low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falling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edge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reset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431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I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/>
                        <a:t>When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load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is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high,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update</a:t>
                      </a:r>
                      <a:r>
                        <a:rPr lang="zh-TW" altLang="en-US"/>
                        <a:t>  </a:t>
                      </a:r>
                      <a:r>
                        <a:rPr lang="en-US" altLang="zh-TW"/>
                        <a:t>matrix_val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986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matrix_val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I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Matrix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value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(multiplicand)</a:t>
                      </a:r>
                      <a:r>
                        <a:rPr lang="zh-TW" altLang="en-US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608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left_in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I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Augend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37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top_in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I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Multiplier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862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down_out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O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Same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as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top_in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35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partial_out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O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left_in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+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matrix_val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*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top_in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01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880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C9F443-0564-DCCB-C24C-5A754CB75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Systolic</a:t>
            </a:r>
            <a:r>
              <a:rPr lang="zh-TW" altLang="en-US"/>
              <a:t> </a:t>
            </a:r>
            <a:r>
              <a:rPr lang="en-US" altLang="zh-TW"/>
              <a:t>Array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FAD0CE-4123-63AF-AA66-3D74639B6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1197429"/>
          </a:xfrm>
        </p:spPr>
        <p:txBody>
          <a:bodyPr/>
          <a:lstStyle/>
          <a:p>
            <a:r>
              <a:rPr lang="en-US" altLang="zh-TW" b="0">
                <a:latin typeface="+mn-lt"/>
              </a:rPr>
              <a:t>A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3x4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systolic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array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with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registers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input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output.</a:t>
            </a:r>
          </a:p>
          <a:p>
            <a:r>
              <a:rPr lang="en-US" altLang="zh-TW" b="0">
                <a:latin typeface="+mn-lt"/>
              </a:rPr>
              <a:t>Add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registers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input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output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so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can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input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get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output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of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the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same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point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simultaneously.</a:t>
            </a:r>
            <a:endParaRPr lang="zh-TW" altLang="en-US" b="0">
              <a:latin typeface="+mn-lt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C98D7E8-8722-0814-F5FD-581FC34AE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42449"/>
            <a:ext cx="5546270" cy="436248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8514DDB-EB0D-49F4-4737-99FBA475C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150" y="2416629"/>
            <a:ext cx="3752850" cy="4248150"/>
          </a:xfrm>
          <a:prstGeom prst="rect">
            <a:avLst/>
          </a:prstGeom>
        </p:spPr>
      </p:pic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090ABD92-4D8D-49DD-CFA8-6181596BE986}"/>
              </a:ext>
            </a:extLst>
          </p:cNvPr>
          <p:cNvCxnSpPr>
            <a:cxnSpLocks/>
          </p:cNvCxnSpPr>
          <p:nvPr/>
        </p:nvCxnSpPr>
        <p:spPr>
          <a:xfrm flipV="1">
            <a:off x="4000500" y="2657475"/>
            <a:ext cx="3292475" cy="3619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F91272C-31AD-D680-9C09-ACEA4D30DE1C}"/>
              </a:ext>
            </a:extLst>
          </p:cNvPr>
          <p:cNvCxnSpPr>
            <a:cxnSpLocks/>
          </p:cNvCxnSpPr>
          <p:nvPr/>
        </p:nvCxnSpPr>
        <p:spPr>
          <a:xfrm flipV="1">
            <a:off x="4357688" y="5810250"/>
            <a:ext cx="6086475" cy="819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437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871445-A6C9-E3E2-E8AE-464AC1F51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CORDIC</a:t>
            </a:r>
            <a:endParaRPr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174B2F7-14F7-9CC7-F035-EB4148B820A5}"/>
              </a:ext>
            </a:extLst>
          </p:cNvPr>
          <p:cNvSpPr txBox="1">
            <a:spLocks/>
          </p:cNvSpPr>
          <p:nvPr/>
        </p:nvSpPr>
        <p:spPr>
          <a:xfrm>
            <a:off x="389467" y="1219201"/>
            <a:ext cx="11463866" cy="954504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60000"/>
              <a:buFont typeface="Wingdings" panose="05000000000000000000" pitchFamily="2" charset="2"/>
              <a:buChar char="l"/>
              <a:defRPr lang="zh-TW" altLang="en-US" sz="2400" b="1" kern="12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ü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+mj-lt"/>
              </a:rPr>
              <a:t>Simplify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calculation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into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simple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operations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such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as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shifting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and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adding.</a:t>
            </a:r>
          </a:p>
          <a:p>
            <a:r>
              <a:rPr lang="en-US" b="0">
                <a:latin typeface="+mj-lt"/>
              </a:rPr>
              <a:t>Multiple iterations are required for accuracy.</a:t>
            </a:r>
          </a:p>
        </p:txBody>
      </p:sp>
      <p:pic>
        <p:nvPicPr>
          <p:cNvPr id="11" name="內容版面配置區 10" descr="一張含有 圖表, 寫生, 圖畫, 行 的圖片&#10;&#10;AI 產生的內容可能不正確。">
            <a:extLst>
              <a:ext uri="{FF2B5EF4-FFF2-40B4-BE49-F238E27FC236}">
                <a16:creationId xmlns:a16="http://schemas.microsoft.com/office/drawing/2014/main" id="{81AD7464-E85D-CE3D-89EC-35AFF6B83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266" y="2173705"/>
            <a:ext cx="4199467" cy="4171125"/>
          </a:xfrm>
        </p:spPr>
      </p:pic>
    </p:spTree>
    <p:extLst>
      <p:ext uri="{BB962C8B-B14F-4D97-AF65-F5344CB8AC3E}">
        <p14:creationId xmlns:p14="http://schemas.microsoft.com/office/powerpoint/2010/main" val="27367162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84129E-99F5-4149-B9E1-F7F65866B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CORDIC</a:t>
            </a:r>
            <a:br>
              <a:rPr lang="en-US" altLang="zh-TW"/>
            </a:b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A27043-9D43-4727-A4A9-DE99C9184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1"/>
            <a:ext cx="11463866" cy="954504"/>
          </a:xfrm>
        </p:spPr>
        <p:txBody>
          <a:bodyPr/>
          <a:lstStyle/>
          <a:p>
            <a:r>
              <a:rPr lang="en-US" altLang="zh-TW" b="0">
                <a:latin typeface="+mj-lt"/>
              </a:rPr>
              <a:t>2D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Euclidean distance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can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be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calculated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by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CORDIC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vector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mode.</a:t>
            </a:r>
          </a:p>
          <a:p>
            <a:r>
              <a:rPr lang="en-US" altLang="zh-TW" b="0">
                <a:latin typeface="+mj-lt"/>
              </a:rPr>
              <a:t>Do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CORDIC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vector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mode two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times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can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get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3D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Euclidean distance.</a:t>
            </a:r>
          </a:p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436C984-F9C2-405B-9676-0E7A669F7579}"/>
                  </a:ext>
                </a:extLst>
              </p:cNvPr>
              <p:cNvSpPr txBox="1"/>
              <p:nvPr/>
            </p:nvSpPr>
            <p:spPr>
              <a:xfrm>
                <a:off x="3436361" y="2378484"/>
                <a:ext cx="5319277" cy="751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436C984-F9C2-405B-9676-0E7A669F7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361" y="2378484"/>
                <a:ext cx="5319277" cy="751552"/>
              </a:xfrm>
              <a:prstGeom prst="rect">
                <a:avLst/>
              </a:prstGeom>
              <a:blipFill>
                <a:blip r:embed="rId2"/>
                <a:stretch>
                  <a:fillRect b="-8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:a16="http://schemas.microsoft.com/office/drawing/2014/main" id="{A23A6D55-45ED-4A8A-884C-F94FE2D4B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727" y="3727965"/>
            <a:ext cx="4520544" cy="257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9242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CC35AE-0961-9DCC-4800-3D592C9C7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CORDIC</a:t>
            </a:r>
            <a:endParaRPr lang="zh-TW" altLang="en-US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D1124AA8-5874-B733-EEE9-01BD747F0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400050"/>
          </a:xfrm>
        </p:spPr>
        <p:txBody>
          <a:bodyPr/>
          <a:lstStyle/>
          <a:p>
            <a:r>
              <a:rPr lang="en-US" altLang="zh-TW" b="0">
                <a:latin typeface="+mj-lt"/>
              </a:rPr>
              <a:t>Series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connect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two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16-stage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pipeline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CORDIC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IP.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CE5AD3A-27F0-2309-D1D0-E4E20C859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885" y="2476500"/>
            <a:ext cx="11190996" cy="281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80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D090B1-EE9D-4E25-A2FD-9D473FE4A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CORDIC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AE6C2E-8E32-4EEF-8165-3FBEE7461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465221"/>
          </a:xfrm>
        </p:spPr>
        <p:txBody>
          <a:bodyPr/>
          <a:lstStyle/>
          <a:p>
            <a:r>
              <a:rPr lang="en-US" altLang="zh-TW" b="0">
                <a:latin typeface="+mj-lt"/>
              </a:rPr>
              <a:t>Output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result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in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every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clock.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68BD0B2-63F5-46AF-9507-AB1ECC7BE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263" y="1684421"/>
            <a:ext cx="9197474" cy="517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9687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0A5EEC-9A7A-48B4-87C6-76C82A80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Horner’s</a:t>
            </a:r>
            <a:r>
              <a:rPr lang="zh-TW" altLang="en-US"/>
              <a:t> </a:t>
            </a:r>
            <a:r>
              <a:rPr lang="en-US" altLang="zh-TW"/>
              <a:t>Method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BCBE6A-BBE7-4E7F-9B20-CA3868F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657726"/>
          </a:xfrm>
        </p:spPr>
        <p:txBody>
          <a:bodyPr/>
          <a:lstStyle/>
          <a:p>
            <a:r>
              <a:rPr lang="en-US" altLang="zh-TW" b="0">
                <a:latin typeface="+mn-lt"/>
              </a:rPr>
              <a:t>Writing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polynomial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nesting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form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to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reduce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computational complexity.</a:t>
            </a:r>
            <a:endParaRPr lang="zh-TW" altLang="en-US" b="0">
              <a:latin typeface="+mn-lt"/>
            </a:endParaRPr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A0FBBD52-590D-48E9-9F22-336C72DD9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9060" y="1754902"/>
            <a:ext cx="8002058" cy="12124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15E88F1-A7B0-4EDE-B96E-24F7E7781C99}"/>
                  </a:ext>
                </a:extLst>
              </p:cNvPr>
              <p:cNvSpPr txBox="1"/>
              <p:nvPr/>
            </p:nvSpPr>
            <p:spPr>
              <a:xfrm>
                <a:off x="4225089" y="3113947"/>
                <a:ext cx="3741822" cy="373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altLang="zh-TW" sz="2400" b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15E88F1-A7B0-4EDE-B96E-24F7E7781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089" y="3113947"/>
                <a:ext cx="3741822" cy="373500"/>
              </a:xfrm>
              <a:prstGeom prst="rect">
                <a:avLst/>
              </a:prstGeom>
              <a:blipFill>
                <a:blip r:embed="rId4"/>
                <a:stretch>
                  <a:fillRect r="-651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D2DA6C2-709F-4F74-A6D6-8412C9EA3E56}"/>
                  </a:ext>
                </a:extLst>
              </p:cNvPr>
              <p:cNvSpPr txBox="1"/>
              <p:nvPr/>
            </p:nvSpPr>
            <p:spPr>
              <a:xfrm>
                <a:off x="3098131" y="4422601"/>
                <a:ext cx="599573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d>
                                    <m:d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altLang="zh-TW" sz="2400" b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D2DA6C2-709F-4F74-A6D6-8412C9EA3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131" y="4422601"/>
                <a:ext cx="5995738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EDAF698C-1B18-4D6A-B451-2FD4E73304D3}"/>
              </a:ext>
            </a:extLst>
          </p:cNvPr>
          <p:cNvSpPr txBox="1"/>
          <p:nvPr/>
        </p:nvSpPr>
        <p:spPr>
          <a:xfrm>
            <a:off x="4208691" y="3415695"/>
            <a:ext cx="3824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</a:rPr>
              <a:t>10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multiplications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5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additions</a:t>
            </a:r>
            <a:endParaRPr lang="zh-TW" altLang="en-US" sz="2400">
              <a:solidFill>
                <a:srgbClr val="FF00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3871AE-2865-4699-82E1-2CDD588188AB}"/>
              </a:ext>
            </a:extLst>
          </p:cNvPr>
          <p:cNvSpPr txBox="1"/>
          <p:nvPr/>
        </p:nvSpPr>
        <p:spPr>
          <a:xfrm>
            <a:off x="4286286" y="4791933"/>
            <a:ext cx="3669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</a:rPr>
              <a:t>4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multiplications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5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additions</a:t>
            </a:r>
            <a:endParaRPr lang="zh-TW" altLang="en-US" sz="2400">
              <a:solidFill>
                <a:srgbClr val="FF0000"/>
              </a:solidFill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9A604800-E26C-496A-9B10-0D957EE5A2E9}"/>
              </a:ext>
            </a:extLst>
          </p:cNvPr>
          <p:cNvCxnSpPr>
            <a:cxnSpLocks/>
          </p:cNvCxnSpPr>
          <p:nvPr/>
        </p:nvCxnSpPr>
        <p:spPr>
          <a:xfrm>
            <a:off x="6007624" y="3917275"/>
            <a:ext cx="0" cy="50532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541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ECF8FD-6E6E-4F0F-AE4A-385EC7CFF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Horner’s</a:t>
            </a:r>
            <a:r>
              <a:rPr lang="zh-TW" altLang="en-US"/>
              <a:t> </a:t>
            </a:r>
            <a:r>
              <a:rPr lang="en-US" altLang="zh-TW"/>
              <a:t>Method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684126D-02AA-488C-8A43-24502A087BE4}"/>
                  </a:ext>
                </a:extLst>
              </p:cNvPr>
              <p:cNvSpPr txBox="1"/>
              <p:nvPr/>
            </p:nvSpPr>
            <p:spPr>
              <a:xfrm>
                <a:off x="2031618" y="2113399"/>
                <a:ext cx="8128764" cy="373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)=1−2.42215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+1.78099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−0.2465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+0.01828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684126D-02AA-488C-8A43-24502A087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618" y="2113399"/>
                <a:ext cx="8128764" cy="373500"/>
              </a:xfrm>
              <a:prstGeom prst="rect">
                <a:avLst/>
              </a:prstGeom>
              <a:blipFill>
                <a:blip r:embed="rId2"/>
                <a:stretch>
                  <a:fillRect l="-300" b="-36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936C52D4-BFA7-4BD8-8A64-A6BF117A94C5}"/>
              </a:ext>
            </a:extLst>
          </p:cNvPr>
          <p:cNvSpPr txBox="1"/>
          <p:nvPr/>
        </p:nvSpPr>
        <p:spPr>
          <a:xfrm>
            <a:off x="4066483" y="2469305"/>
            <a:ext cx="3823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</a:rPr>
              <a:t>17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multiplications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4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additions</a:t>
            </a:r>
            <a:endParaRPr lang="zh-TW" altLang="en-US" sz="24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FAB7DA7-54AB-4D12-BC01-A825A65DB598}"/>
                  </a:ext>
                </a:extLst>
              </p:cNvPr>
              <p:cNvSpPr txBox="1"/>
              <p:nvPr/>
            </p:nvSpPr>
            <p:spPr>
              <a:xfrm>
                <a:off x="1607306" y="3530070"/>
                <a:ext cx="87417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0.01828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−0.2465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1.78099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2.42215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FAB7DA7-54AB-4D12-BC01-A825A65DB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306" y="3530070"/>
                <a:ext cx="8741752" cy="369332"/>
              </a:xfrm>
              <a:prstGeom prst="rect">
                <a:avLst/>
              </a:prstGeom>
              <a:blipFill>
                <a:blip r:embed="rId3"/>
                <a:stretch>
                  <a:fillRect l="-349" r="-279"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C6C1A36-3E94-4AE9-A991-9B2C6953E113}"/>
                  </a:ext>
                </a:extLst>
              </p:cNvPr>
              <p:cNvSpPr txBox="1"/>
              <p:nvPr/>
            </p:nvSpPr>
            <p:spPr>
              <a:xfrm>
                <a:off x="5314250" y="1283370"/>
                <a:ext cx="13278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𝑙𝑒𝑡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/>
                  <a:t>=</a:t>
                </a:r>
                <a:r>
                  <a:rPr lang="zh-TW" altLang="en-US" sz="2400"/>
                  <a:t> </a:t>
                </a:r>
                <a:r>
                  <a:rPr lang="en-US" altLang="zh-TW" sz="2400"/>
                  <a:t>1.7</a:t>
                </a:r>
                <a:endParaRPr lang="zh-TW" altLang="en-US" sz="240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C6C1A36-3E94-4AE9-A991-9B2C6953E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250" y="1283370"/>
                <a:ext cx="1327864" cy="369332"/>
              </a:xfrm>
              <a:prstGeom prst="rect">
                <a:avLst/>
              </a:prstGeom>
              <a:blipFill>
                <a:blip r:embed="rId4"/>
                <a:stretch>
                  <a:fillRect l="-8257" t="-26667" r="-13303" b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89FFFCB9-2668-48E5-B732-F85CF3C3E8CB}"/>
              </a:ext>
            </a:extLst>
          </p:cNvPr>
          <p:cNvSpPr txBox="1"/>
          <p:nvPr/>
        </p:nvSpPr>
        <p:spPr>
          <a:xfrm>
            <a:off x="4139320" y="3899402"/>
            <a:ext cx="3677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</a:rPr>
              <a:t>7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multiplications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4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additions</a:t>
            </a:r>
            <a:endParaRPr lang="zh-TW" altLang="en-US" sz="2400">
              <a:solidFill>
                <a:srgbClr val="FF0000"/>
              </a:solidFill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CE2D0D96-E834-402B-A020-61DE5457D207}"/>
              </a:ext>
            </a:extLst>
          </p:cNvPr>
          <p:cNvCxnSpPr>
            <a:cxnSpLocks/>
          </p:cNvCxnSpPr>
          <p:nvPr/>
        </p:nvCxnSpPr>
        <p:spPr>
          <a:xfrm>
            <a:off x="5978185" y="2930970"/>
            <a:ext cx="0" cy="50532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76C39D2E-4249-4D7B-A37B-DBB1BF6FFCAB}"/>
              </a:ext>
            </a:extLst>
          </p:cNvPr>
          <p:cNvCxnSpPr>
            <a:cxnSpLocks/>
          </p:cNvCxnSpPr>
          <p:nvPr/>
        </p:nvCxnSpPr>
        <p:spPr>
          <a:xfrm>
            <a:off x="5978182" y="4361067"/>
            <a:ext cx="0" cy="50532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518F900-CDAF-42F3-A61D-685E190A27D4}"/>
              </a:ext>
            </a:extLst>
          </p:cNvPr>
          <p:cNvSpPr txBox="1"/>
          <p:nvPr/>
        </p:nvSpPr>
        <p:spPr>
          <a:xfrm>
            <a:off x="4139320" y="4866393"/>
            <a:ext cx="3677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If</a:t>
            </a:r>
            <a:r>
              <a:rPr lang="zh-TW" altLang="en-US" sz="2400"/>
              <a:t> </a:t>
            </a:r>
            <a:r>
              <a:rPr lang="en-US" altLang="zh-TW" sz="2400"/>
              <a:t>reuse</a:t>
            </a:r>
            <a:r>
              <a:rPr lang="zh-TW" altLang="en-US" sz="2400"/>
              <a:t> </a:t>
            </a:r>
            <a:r>
              <a:rPr lang="en-US" altLang="zh-TW" sz="2400"/>
              <a:t>t</a:t>
            </a:r>
            <a:r>
              <a:rPr lang="en-US" altLang="zh-TW" sz="2400" baseline="30000"/>
              <a:t>2</a:t>
            </a:r>
            <a:r>
              <a:rPr lang="en-US" altLang="zh-TW" sz="2400"/>
              <a:t>,final</a:t>
            </a:r>
            <a:r>
              <a:rPr lang="zh-TW" altLang="en-US" sz="2400"/>
              <a:t> </a:t>
            </a:r>
            <a:r>
              <a:rPr lang="en-US" altLang="zh-TW" sz="2400"/>
              <a:t>become</a:t>
            </a:r>
          </a:p>
          <a:p>
            <a:pPr algn="ctr"/>
            <a:r>
              <a:rPr lang="en-US" altLang="zh-TW" sz="2400">
                <a:solidFill>
                  <a:srgbClr val="FF0000"/>
                </a:solidFill>
              </a:rPr>
              <a:t>5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multiplications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4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additions</a:t>
            </a:r>
            <a:endParaRPr lang="zh-TW" altLang="en-US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8787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E806A-29D4-ECC6-BC7F-B9B9FDFC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Horner’s</a:t>
            </a:r>
            <a:r>
              <a:rPr lang="zh-TW" altLang="en-US"/>
              <a:t> </a:t>
            </a:r>
            <a:r>
              <a:rPr lang="en-US" altLang="zh-TW"/>
              <a:t>Method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027234-B040-85C5-506D-BA18C5F41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5046133" cy="2455333"/>
          </a:xfrm>
        </p:spPr>
        <p:txBody>
          <a:bodyPr/>
          <a:lstStyle/>
          <a:p>
            <a:r>
              <a:rPr lang="en-US" altLang="zh-TW" b="0">
                <a:latin typeface="+mj-lt"/>
              </a:rPr>
              <a:t>Cz(r)</a:t>
            </a:r>
          </a:p>
          <a:p>
            <a:r>
              <a:rPr lang="en-US" altLang="zh-TW" b="0">
                <a:latin typeface="+mj-lt"/>
              </a:rPr>
              <a:t>C7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=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0.01828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*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65536</a:t>
            </a:r>
            <a:r>
              <a:rPr lang="zh-TW" altLang="en-US" b="0">
                <a:latin typeface="+mj-lt"/>
              </a:rPr>
              <a:t> ≈ </a:t>
            </a:r>
            <a:r>
              <a:rPr lang="en-US" altLang="zh-TW" b="0">
                <a:latin typeface="+mj-lt"/>
              </a:rPr>
              <a:t>1198</a:t>
            </a:r>
          </a:p>
          <a:p>
            <a:r>
              <a:rPr lang="en-US" altLang="zh-TW" b="0">
                <a:latin typeface="+mj-lt"/>
              </a:rPr>
              <a:t>C5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=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-0.2465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*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65536</a:t>
            </a:r>
            <a:r>
              <a:rPr lang="zh-TW" altLang="en-US" b="0">
                <a:latin typeface="+mj-lt"/>
              </a:rPr>
              <a:t> ≈ </a:t>
            </a:r>
            <a:r>
              <a:rPr lang="en-US" altLang="zh-TW" b="0">
                <a:latin typeface="+mj-lt"/>
              </a:rPr>
              <a:t>-16155</a:t>
            </a:r>
          </a:p>
          <a:p>
            <a:r>
              <a:rPr lang="en-US" altLang="zh-TW" b="0">
                <a:latin typeface="+mj-lt"/>
              </a:rPr>
              <a:t>C3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=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1.78099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*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65536</a:t>
            </a:r>
            <a:r>
              <a:rPr lang="zh-TW" altLang="en-US" b="0">
                <a:latin typeface="+mj-lt"/>
              </a:rPr>
              <a:t> ≈ </a:t>
            </a:r>
            <a:r>
              <a:rPr lang="en-US" altLang="zh-TW" b="0">
                <a:latin typeface="+mj-lt"/>
              </a:rPr>
              <a:t>116719</a:t>
            </a:r>
          </a:p>
          <a:p>
            <a:r>
              <a:rPr lang="en-US" altLang="zh-TW" b="0">
                <a:latin typeface="+mj-lt"/>
              </a:rPr>
              <a:t>C2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= -2.42215*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65536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≈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-158738</a:t>
            </a:r>
          </a:p>
          <a:p>
            <a:r>
              <a:rPr lang="en-US" altLang="zh-TW" b="0">
                <a:latin typeface="+mj-lt"/>
              </a:rPr>
              <a:t>C0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=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1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*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65536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=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65536</a:t>
            </a:r>
            <a:endParaRPr lang="zh-TW" altLang="en-US" b="0" dirty="0">
              <a:latin typeface="+mj-lt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C1FD68B-1E8F-1D9F-8DF3-C33CEB687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03079"/>
            <a:ext cx="5046133" cy="514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744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76E929-3E7E-F1DD-9A65-15B2A8F01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Horner’s</a:t>
            </a:r>
            <a:r>
              <a:rPr lang="zh-TW" altLang="en-US"/>
              <a:t> </a:t>
            </a:r>
            <a:r>
              <a:rPr lang="en-US" altLang="zh-TW"/>
              <a:t>Method</a:t>
            </a:r>
            <a:endParaRPr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B56C062-BF28-00CD-4CD8-AA8EAB3A8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5046133" cy="2455333"/>
          </a:xfrm>
        </p:spPr>
        <p:txBody>
          <a:bodyPr/>
          <a:lstStyle/>
          <a:p>
            <a:r>
              <a:rPr lang="en-US" altLang="zh-TW" b="0">
                <a:latin typeface="+mj-lt"/>
              </a:rPr>
              <a:t>Cz’(r)/r</a:t>
            </a:r>
          </a:p>
          <a:p>
            <a:r>
              <a:rPr lang="en-US" altLang="zh-TW" b="0">
                <a:latin typeface="+mj-lt"/>
              </a:rPr>
              <a:t>C5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=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0.12794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*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65536</a:t>
            </a:r>
            <a:r>
              <a:rPr lang="zh-TW" altLang="en-US" b="0">
                <a:latin typeface="+mj-lt"/>
              </a:rPr>
              <a:t> ≈ </a:t>
            </a:r>
            <a:r>
              <a:rPr lang="en-US" altLang="zh-TW" b="0">
                <a:latin typeface="+mj-lt"/>
              </a:rPr>
              <a:t>8385</a:t>
            </a:r>
          </a:p>
          <a:p>
            <a:r>
              <a:rPr lang="en-US" altLang="zh-TW" b="0">
                <a:latin typeface="+mj-lt"/>
              </a:rPr>
              <a:t>C3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=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-1.23252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*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65536</a:t>
            </a:r>
            <a:r>
              <a:rPr lang="zh-TW" altLang="en-US" b="0">
                <a:latin typeface="+mj-lt"/>
              </a:rPr>
              <a:t> ≈ </a:t>
            </a:r>
            <a:r>
              <a:rPr lang="en-US" altLang="zh-TW" b="0">
                <a:latin typeface="+mj-lt"/>
              </a:rPr>
              <a:t>-80744</a:t>
            </a:r>
          </a:p>
          <a:p>
            <a:r>
              <a:rPr lang="en-US" altLang="zh-TW" b="0">
                <a:latin typeface="+mj-lt"/>
              </a:rPr>
              <a:t>C1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= 5.34297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*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65536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≈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350157</a:t>
            </a:r>
          </a:p>
          <a:p>
            <a:r>
              <a:rPr lang="en-US" altLang="zh-TW" b="0">
                <a:latin typeface="+mj-lt"/>
              </a:rPr>
              <a:t>C0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=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-4.84429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*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65536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=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-317475</a:t>
            </a:r>
            <a:endParaRPr lang="zh-TW" altLang="en-US" b="0" dirty="0">
              <a:latin typeface="+mj-lt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4341C14-C0EF-67AB-85D8-62AC89BCC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84350"/>
            <a:ext cx="4943475" cy="48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22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4897B2-AFF2-B78C-5C02-B1FCE5252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Block</a:t>
            </a:r>
            <a:r>
              <a:rPr lang="zh-TW" altLang="en-US"/>
              <a:t> </a:t>
            </a:r>
            <a:r>
              <a:rPr lang="en-US" altLang="zh-TW"/>
              <a:t>Diagram</a:t>
            </a:r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A0D31D9-FF01-0D9C-1ADF-809F1C372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2269807"/>
            <a:ext cx="4743450" cy="4010025"/>
          </a:xfrm>
          <a:prstGeom prst="rect">
            <a:avLst/>
          </a:prstGeom>
        </p:spPr>
      </p:pic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F0FA4C6-B898-E3F9-9B77-99C5042C6AB6}"/>
              </a:ext>
            </a:extLst>
          </p:cNvPr>
          <p:cNvCxnSpPr>
            <a:cxnSpLocks/>
          </p:cNvCxnSpPr>
          <p:nvPr/>
        </p:nvCxnSpPr>
        <p:spPr>
          <a:xfrm flipV="1">
            <a:off x="4236244" y="1383506"/>
            <a:ext cx="1283494" cy="3714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EE7F4B7F-50B0-7D3C-B57B-B0BB331FC576}"/>
              </a:ext>
            </a:extLst>
          </p:cNvPr>
          <p:cNvCxnSpPr>
            <a:cxnSpLocks/>
          </p:cNvCxnSpPr>
          <p:nvPr/>
        </p:nvCxnSpPr>
        <p:spPr>
          <a:xfrm flipV="1">
            <a:off x="4953000" y="5255419"/>
            <a:ext cx="6910388" cy="10025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B3E294-FE85-BC8B-48F1-16F805D3034F}"/>
              </a:ext>
            </a:extLst>
          </p:cNvPr>
          <p:cNvSpPr txBox="1">
            <a:spLocks/>
          </p:cNvSpPr>
          <p:nvPr/>
        </p:nvSpPr>
        <p:spPr>
          <a:xfrm>
            <a:off x="389467" y="1219201"/>
            <a:ext cx="4799753" cy="954504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60000"/>
              <a:buFont typeface="Wingdings" panose="05000000000000000000" pitchFamily="2" charset="2"/>
              <a:buChar char="l"/>
              <a:defRPr lang="zh-TW" altLang="en-US" sz="2400" b="1" kern="12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ü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>
                <a:latin typeface="+mj-lt"/>
              </a:rPr>
              <a:t>All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K_Z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modules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run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in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parallel.</a:t>
            </a:r>
          </a:p>
          <a:p>
            <a:r>
              <a:rPr lang="en-US" sz="1800" b="0">
                <a:latin typeface="+mj-lt"/>
              </a:rPr>
              <a:t>The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number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of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K_Z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modules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depends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on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the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number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of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interface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and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orientation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points.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F6A1FDC1-BE80-6A13-8A2D-C4A9E00E9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100" y="1359694"/>
            <a:ext cx="639127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076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23913CB-C3D1-73EB-DAD1-C27A7D252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19" y="2622709"/>
            <a:ext cx="4924425" cy="401002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00C3B9D-2CFA-8D2A-B0E7-A6811A3AE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Block</a:t>
            </a:r>
            <a:r>
              <a:rPr lang="zh-TW" altLang="en-US"/>
              <a:t> </a:t>
            </a:r>
            <a:r>
              <a:rPr lang="en-US" altLang="zh-TW"/>
              <a:t>Diagram</a:t>
            </a:r>
            <a:endParaRPr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5936DBA2-8B83-5D51-C1E0-027DF8F158F8}"/>
              </a:ext>
            </a:extLst>
          </p:cNvPr>
          <p:cNvCxnSpPr>
            <a:cxnSpLocks/>
          </p:cNvCxnSpPr>
          <p:nvPr/>
        </p:nvCxnSpPr>
        <p:spPr>
          <a:xfrm flipV="1">
            <a:off x="4250531" y="1488281"/>
            <a:ext cx="1228725" cy="396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2A62C842-EFFE-A9CD-2AE0-09EF11AA6E81}"/>
              </a:ext>
            </a:extLst>
          </p:cNvPr>
          <p:cNvCxnSpPr>
            <a:cxnSpLocks/>
          </p:cNvCxnSpPr>
          <p:nvPr/>
        </p:nvCxnSpPr>
        <p:spPr>
          <a:xfrm flipV="1">
            <a:off x="4972050" y="5664994"/>
            <a:ext cx="7172325" cy="942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A232542-9B0A-91BA-7030-205B0097B529}"/>
              </a:ext>
            </a:extLst>
          </p:cNvPr>
          <p:cNvSpPr txBox="1">
            <a:spLocks/>
          </p:cNvSpPr>
          <p:nvPr/>
        </p:nvSpPr>
        <p:spPr>
          <a:xfrm>
            <a:off x="151342" y="1219200"/>
            <a:ext cx="5165513" cy="1546859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60000"/>
              <a:buFont typeface="Wingdings" panose="05000000000000000000" pitchFamily="2" charset="2"/>
              <a:buChar char="l"/>
              <a:defRPr lang="zh-TW" altLang="en-US" sz="2400" b="1" kern="12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ü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>
                <a:latin typeface="+mj-lt"/>
              </a:rPr>
              <a:t>K_Z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modules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and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K_Zgu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modules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run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in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parallel.</a:t>
            </a:r>
            <a:endParaRPr lang="en-US" sz="1800" b="0">
              <a:latin typeface="+mj-lt"/>
            </a:endParaRPr>
          </a:p>
          <a:p>
            <a:r>
              <a:rPr lang="en-US" sz="1800" b="0">
                <a:latin typeface="+mj-lt"/>
              </a:rPr>
              <a:t>All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K_ZGu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modules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run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in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parallel.</a:t>
            </a:r>
          </a:p>
          <a:p>
            <a:r>
              <a:rPr lang="en-US" sz="1800" b="0">
                <a:latin typeface="+mj-lt"/>
              </a:rPr>
              <a:t>The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number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of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K_ZGu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modules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depends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on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the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number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of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interface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and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orientation</a:t>
            </a:r>
            <a:r>
              <a:rPr lang="zh-TW" altLang="en-US" sz="1800" b="0">
                <a:latin typeface="+mj-lt"/>
              </a:rPr>
              <a:t> </a:t>
            </a:r>
            <a:r>
              <a:rPr lang="en-US" altLang="zh-TW" sz="1800" b="0">
                <a:latin typeface="+mj-lt"/>
              </a:rPr>
              <a:t>points.</a:t>
            </a: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6C022ADF-A550-096A-6CC2-4EA22B738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775" y="1464469"/>
            <a:ext cx="67532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68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9D1133-6207-2964-9872-9A8B35A9F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466725"/>
          </a:xfrm>
        </p:spPr>
        <p:txBody>
          <a:bodyPr/>
          <a:lstStyle/>
          <a:p>
            <a:r>
              <a:rPr lang="en-US" altLang="zh-TW" b="0">
                <a:latin typeface="+mj-lt"/>
              </a:rPr>
              <a:t>Multiply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K_ZGu</a:t>
            </a:r>
            <a:r>
              <a:rPr lang="zh-TW" altLang="en-US" b="0">
                <a:latin typeface="+mj-lt"/>
              </a:rPr>
              <a:t>、</a:t>
            </a:r>
            <a:r>
              <a:rPr lang="en-US" altLang="zh-TW" b="0">
                <a:latin typeface="+mj-lt"/>
              </a:rPr>
              <a:t>K_Z</a:t>
            </a:r>
            <a:r>
              <a:rPr lang="zh-TW" altLang="en-US" b="0">
                <a:latin typeface="+mj-lt"/>
              </a:rPr>
              <a:t>、</a:t>
            </a:r>
            <a:r>
              <a:rPr lang="en-US" altLang="zh-TW" b="0">
                <a:latin typeface="+mj-lt"/>
              </a:rPr>
              <a:t>x’</a:t>
            </a:r>
            <a:r>
              <a:rPr lang="zh-TW" altLang="en-US" b="0">
                <a:latin typeface="+mj-lt"/>
              </a:rPr>
              <a:t>、</a:t>
            </a:r>
            <a:r>
              <a:rPr lang="en-US" altLang="zh-TW" b="0">
                <a:latin typeface="+mj-lt"/>
              </a:rPr>
              <a:t>y’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and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z’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by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weights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and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add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together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to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get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field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value.</a:t>
            </a:r>
          </a:p>
          <a:p>
            <a:r>
              <a:rPr lang="en-US" altLang="zh-TW" b="0">
                <a:latin typeface="+mj-lt"/>
              </a:rPr>
              <a:t>Compare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field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value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of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different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points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to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layers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to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get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label.</a:t>
            </a:r>
            <a:endParaRPr lang="zh-TW" altLang="en-US" b="0" dirty="0">
              <a:latin typeface="+mj-l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0B6B803-BD58-79A4-13C3-701C4A5E3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87" y="1933575"/>
            <a:ext cx="5457825" cy="4924425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D327EF8F-DC28-61A6-2CAE-DDAB028F5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3" y="515938"/>
            <a:ext cx="11953875" cy="550862"/>
          </a:xfrm>
        </p:spPr>
        <p:txBody>
          <a:bodyPr/>
          <a:lstStyle/>
          <a:p>
            <a:r>
              <a:rPr lang="en-US" altLang="zh-TW"/>
              <a:t>Block</a:t>
            </a:r>
            <a:r>
              <a:rPr lang="zh-TW" altLang="en-US"/>
              <a:t> </a:t>
            </a:r>
            <a:r>
              <a:rPr lang="en-US" altLang="zh-TW"/>
              <a:t>Diagram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17129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0FB3D-C176-4191-BD66-97ACB88EA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Create</a:t>
            </a:r>
            <a:r>
              <a:rPr lang="zh-TW" altLang="en-US"/>
              <a:t> </a:t>
            </a:r>
            <a:r>
              <a:rPr lang="en-US" altLang="zh-TW"/>
              <a:t>IP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C2D2AC-4195-F5C8-B492-028E7FFC6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054" y="1619250"/>
            <a:ext cx="8361892" cy="4703564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3340782-F68E-E7FE-65BD-3DFB4E155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400050"/>
          </a:xfrm>
        </p:spPr>
        <p:txBody>
          <a:bodyPr/>
          <a:lstStyle/>
          <a:p>
            <a:r>
              <a:rPr lang="en-US" altLang="zh-TW" b="0">
                <a:latin typeface="+mj-lt"/>
              </a:rPr>
              <a:t>Package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verilog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code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into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IP.</a:t>
            </a:r>
          </a:p>
        </p:txBody>
      </p:sp>
    </p:spTree>
    <p:extLst>
      <p:ext uri="{BB962C8B-B14F-4D97-AF65-F5344CB8AC3E}">
        <p14:creationId xmlns:p14="http://schemas.microsoft.com/office/powerpoint/2010/main" val="38607951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15EAC8-067D-1F3E-CB8E-3AF1E6B3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Data</a:t>
            </a:r>
            <a:r>
              <a:rPr lang="zh-TW" altLang="en-US"/>
              <a:t> </a:t>
            </a:r>
            <a:r>
              <a:rPr lang="en-US" altLang="zh-TW"/>
              <a:t>Flow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6EBA40C-DB55-B01A-EB09-75B4B08B0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619" y="2124306"/>
            <a:ext cx="7304762" cy="3695238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68C72-1002-8282-66D8-4A76CE006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400050"/>
          </a:xfrm>
        </p:spPr>
        <p:txBody>
          <a:bodyPr/>
          <a:lstStyle/>
          <a:p>
            <a:r>
              <a:rPr lang="en-US" altLang="zh-TW" b="0">
                <a:latin typeface="+mj-lt"/>
              </a:rPr>
              <a:t>DMA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and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my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IP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connect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with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AXI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stream</a:t>
            </a:r>
            <a:r>
              <a:rPr lang="zh-TW" altLang="en-US" b="0">
                <a:latin typeface="+mj-lt"/>
              </a:rPr>
              <a:t> </a:t>
            </a:r>
            <a:r>
              <a:rPr lang="en-US" altLang="zh-TW" b="0">
                <a:latin typeface="+mj-lt"/>
              </a:rPr>
              <a:t>mode.</a:t>
            </a:r>
          </a:p>
        </p:txBody>
      </p:sp>
    </p:spTree>
    <p:extLst>
      <p:ext uri="{BB962C8B-B14F-4D97-AF65-F5344CB8AC3E}">
        <p14:creationId xmlns:p14="http://schemas.microsoft.com/office/powerpoint/2010/main" val="11510374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0E6C88-08F0-4E30-BDE3-B2A52753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Block</a:t>
            </a:r>
            <a:r>
              <a:rPr lang="zh-TW" altLang="en-US"/>
              <a:t> </a:t>
            </a:r>
            <a:r>
              <a:rPr lang="en-US" altLang="zh-TW"/>
              <a:t>Design</a:t>
            </a:r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B87AADB-7501-1243-3FF3-054B059E9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25" y="1066801"/>
            <a:ext cx="11355750" cy="502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527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4D01A7-A3DB-15DB-B4C4-6FA3DEF2F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Utilization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0599EB-89DC-0068-4D79-FA213ECC0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1833621"/>
          </a:xfrm>
        </p:spPr>
        <p:txBody>
          <a:bodyPr/>
          <a:lstStyle/>
          <a:p>
            <a:pPr algn="just"/>
            <a:r>
              <a:rPr lang="en-US" altLang="zh-TW" b="0">
                <a:latin typeface="+mn-lt"/>
              </a:rPr>
              <a:t>Sythesys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with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150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MHz.</a:t>
            </a:r>
          </a:p>
          <a:p>
            <a:pPr algn="just"/>
            <a:r>
              <a:rPr lang="en-US" altLang="zh-TW" b="0">
                <a:latin typeface="+mn-lt"/>
              </a:rPr>
              <a:t>Power consumption is extremely low compared to CPUs and GPUs, which is a major advantage.</a:t>
            </a:r>
            <a:endParaRPr lang="zh-TW" altLang="en-US" b="0" dirty="0">
              <a:latin typeface="+mn-l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6EA5624-DAC9-5DBF-CC1A-6CBA6164A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" y="3737361"/>
            <a:ext cx="5508172" cy="153645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1367183-0DB4-AA2D-5C38-764EEE6F5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338" y="3071873"/>
            <a:ext cx="3429479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156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7F567-E2DA-4A79-BD75-FD1D569D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WebSocket</a:t>
            </a:r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928D023F-2B5D-4B7C-9E65-24C4D16F87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437" y="1981599"/>
            <a:ext cx="7251124" cy="3296653"/>
          </a:xfrm>
        </p:spPr>
      </p:pic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4940D361-9A9B-4375-A5E6-676F17AEC519}"/>
              </a:ext>
            </a:extLst>
          </p:cNvPr>
          <p:cNvSpPr txBox="1">
            <a:spLocks/>
          </p:cNvSpPr>
          <p:nvPr/>
        </p:nvSpPr>
        <p:spPr>
          <a:xfrm>
            <a:off x="389467" y="1219202"/>
            <a:ext cx="11463866" cy="876298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60000"/>
              <a:buFont typeface="Wingdings" panose="05000000000000000000" pitchFamily="2" charset="2"/>
              <a:buChar char="l"/>
              <a:defRPr lang="zh-TW" altLang="en-US" sz="2400" b="1" kern="12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ü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0">
                <a:latin typeface="+mn-lt"/>
              </a:rPr>
              <a:t>The client initiates the connection by sending an HTTP upgrade handshake to the server.</a:t>
            </a:r>
          </a:p>
          <a:p>
            <a:pPr algn="just"/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Once the connection is established, it remains persistent.</a:t>
            </a:r>
            <a:endParaRPr lang="en-US" b="0">
              <a:latin typeface="+mn-lt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65DF455-67A4-4869-B7C8-8858D5CFFD17}"/>
              </a:ext>
            </a:extLst>
          </p:cNvPr>
          <p:cNvSpPr txBox="1"/>
          <p:nvPr/>
        </p:nvSpPr>
        <p:spPr>
          <a:xfrm>
            <a:off x="665747" y="2197314"/>
            <a:ext cx="2121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</a:rPr>
              <a:t>Local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computer</a:t>
            </a:r>
            <a:endParaRPr lang="zh-TW" altLang="en-US" sz="2400">
              <a:solidFill>
                <a:srgbClr val="FF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3F883FE-2210-4F90-B80D-EA6D4E74C1BD}"/>
              </a:ext>
            </a:extLst>
          </p:cNvPr>
          <p:cNvSpPr txBox="1"/>
          <p:nvPr/>
        </p:nvSpPr>
        <p:spPr>
          <a:xfrm>
            <a:off x="8221548" y="2197314"/>
            <a:ext cx="3368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</a:rPr>
              <a:t>FPGA</a:t>
            </a:r>
            <a:r>
              <a:rPr lang="zh-TW" altLang="en-US" sz="2400">
                <a:solidFill>
                  <a:srgbClr val="FF0000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board(PYNQ-ZU)</a:t>
            </a:r>
            <a:endParaRPr lang="zh-TW" altLang="en-US" sz="2400">
              <a:solidFill>
                <a:srgbClr val="FF0000"/>
              </a:solidFill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89D1F7B8-546E-434C-8B57-AC6D3C48BA83}"/>
              </a:ext>
            </a:extLst>
          </p:cNvPr>
          <p:cNvGrpSpPr/>
          <p:nvPr/>
        </p:nvGrpSpPr>
        <p:grpSpPr>
          <a:xfrm>
            <a:off x="356038" y="5040740"/>
            <a:ext cx="11479922" cy="1373491"/>
            <a:chOff x="356038" y="5032719"/>
            <a:chExt cx="11479922" cy="1373491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B0A48470-AFB8-4004-A77F-3121396EA774}"/>
                </a:ext>
              </a:extLst>
            </p:cNvPr>
            <p:cNvSpPr txBox="1"/>
            <p:nvPr/>
          </p:nvSpPr>
          <p:spPr>
            <a:xfrm>
              <a:off x="6004596" y="5944545"/>
              <a:ext cx="28809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>
                  <a:solidFill>
                    <a:srgbClr val="FF0000"/>
                  </a:solidFill>
                </a:rPr>
                <a:t>Local</a:t>
              </a:r>
              <a:r>
                <a:rPr lang="zh-TW" altLang="en-US" sz="2400">
                  <a:solidFill>
                    <a:srgbClr val="FF0000"/>
                  </a:solidFill>
                </a:rPr>
                <a:t> </a:t>
              </a:r>
              <a:r>
                <a:rPr lang="en-US" altLang="zh-TW" sz="2400">
                  <a:solidFill>
                    <a:srgbClr val="FF0000"/>
                  </a:solidFill>
                </a:rPr>
                <a:t>computer</a:t>
              </a:r>
              <a:r>
                <a:rPr lang="zh-TW" altLang="en-US" sz="2400">
                  <a:solidFill>
                    <a:srgbClr val="FF0000"/>
                  </a:solidFill>
                </a:rPr>
                <a:t> </a:t>
              </a:r>
              <a:r>
                <a:rPr lang="en-US" altLang="zh-TW" sz="2400">
                  <a:solidFill>
                    <a:srgbClr val="FF0000"/>
                  </a:solidFill>
                </a:rPr>
                <a:t>result</a:t>
              </a:r>
              <a:endParaRPr lang="zh-TW" altLang="en-US" sz="2400">
                <a:solidFill>
                  <a:srgbClr val="FF0000"/>
                </a:solidFill>
              </a:endParaRPr>
            </a:p>
          </p:txBody>
        </p: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9DB0FB75-DBFB-440E-A9C0-41F1FACD4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038" y="5032719"/>
              <a:ext cx="5396351" cy="1373491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8D4B7903-3FC6-4ADC-B1C4-B9DE69AB6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04596" y="5032719"/>
              <a:ext cx="5831364" cy="7133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42826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CA0C3B-231E-1F11-6D50-A1E4F44B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GemPy</a:t>
            </a:r>
            <a:r>
              <a:rPr lang="zh-TW" altLang="en-US"/>
              <a:t> </a:t>
            </a:r>
            <a:r>
              <a:rPr lang="en-US" altLang="zh-TW"/>
              <a:t>default</a:t>
            </a:r>
            <a:r>
              <a:rPr lang="zh-TW" altLang="en-US"/>
              <a:t> </a:t>
            </a:r>
            <a:r>
              <a:rPr lang="en-US" altLang="zh-TW"/>
              <a:t>setting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DE1258-C951-0486-A301-BB3F18040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b="0">
                <a:latin typeface="+mn-lt"/>
              </a:rPr>
              <a:t>Before comparing the results, it is essential to note GemPy’s default settings.</a:t>
            </a:r>
          </a:p>
          <a:p>
            <a:pPr algn="just"/>
            <a:r>
              <a:rPr lang="en-US" altLang="zh-TW" b="0">
                <a:latin typeface="+mn-lt"/>
              </a:rPr>
              <a:t>Because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of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some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library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restriction,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we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can’t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use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GPU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to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accelerate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GemPy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under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Windows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environment.</a:t>
            </a:r>
          </a:p>
          <a:p>
            <a:pPr algn="just"/>
            <a:r>
              <a:rPr lang="en-US" altLang="zh-TW" b="0">
                <a:latin typeface="+mn-lt"/>
              </a:rPr>
              <a:t>The basic backend for computation is NumPy; here, we use it as a benchmark for comparison. It can only use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CPU.</a:t>
            </a:r>
          </a:p>
          <a:p>
            <a:pPr algn="just"/>
            <a:r>
              <a:rPr lang="en-US" altLang="zh-TW" b="0">
                <a:latin typeface="+mn-lt"/>
              </a:rPr>
              <a:t>Another available backend is PyTorch, which can use either CPU or GPU.</a:t>
            </a:r>
          </a:p>
          <a:p>
            <a:pPr marL="0" indent="0">
              <a:buNone/>
            </a:pPr>
            <a:endParaRPr lang="zh-TW" altLang="en-US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78085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8554AE-FE23-F5CB-2A76-6FE22F99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Hardware</a:t>
            </a:r>
            <a:r>
              <a:rPr lang="zh-TW" altLang="en-US"/>
              <a:t> </a:t>
            </a:r>
            <a:r>
              <a:rPr lang="en-US" altLang="zh-TW"/>
              <a:t>Parameter</a:t>
            </a:r>
            <a:endParaRPr lang="zh-TW" altLang="en-US"/>
          </a:p>
        </p:txBody>
      </p:sp>
      <p:graphicFrame>
        <p:nvGraphicFramePr>
          <p:cNvPr id="14" name="內容版面配置區 13">
            <a:extLst>
              <a:ext uri="{FF2B5EF4-FFF2-40B4-BE49-F238E27FC236}">
                <a16:creationId xmlns:a16="http://schemas.microsoft.com/office/drawing/2014/main" id="{DCFFBECA-EFF0-FAC9-91B3-092CCAB51C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8902257"/>
              </p:ext>
            </p:extLst>
          </p:nvPr>
        </p:nvGraphicFramePr>
        <p:xfrm>
          <a:off x="118535" y="1233600"/>
          <a:ext cx="11954932" cy="3616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6890">
                  <a:extLst>
                    <a:ext uri="{9D8B030D-6E8A-4147-A177-3AD203B41FA5}">
                      <a16:colId xmlns:a16="http://schemas.microsoft.com/office/drawing/2014/main" val="2508868049"/>
                    </a:ext>
                  </a:extLst>
                </a:gridCol>
                <a:gridCol w="2874628">
                  <a:extLst>
                    <a:ext uri="{9D8B030D-6E8A-4147-A177-3AD203B41FA5}">
                      <a16:colId xmlns:a16="http://schemas.microsoft.com/office/drawing/2014/main" val="331462915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132589718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344856052"/>
                    </a:ext>
                  </a:extLst>
                </a:gridCol>
                <a:gridCol w="2443689">
                  <a:extLst>
                    <a:ext uri="{9D8B030D-6E8A-4147-A177-3AD203B41FA5}">
                      <a16:colId xmlns:a16="http://schemas.microsoft.com/office/drawing/2014/main" val="3080794713"/>
                    </a:ext>
                  </a:extLst>
                </a:gridCol>
              </a:tblGrid>
              <a:tr h="77392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Hardware 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Clock 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436610"/>
                  </a:ext>
                </a:extLst>
              </a:tr>
              <a:tr h="11056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FPGA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PYNQ-ZU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16 nm FinFET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256,200 system logic cells</a:t>
                      </a:r>
                    </a:p>
                    <a:p>
                      <a:pPr algn="ctr"/>
                      <a:r>
                        <a:rPr lang="en-US" altLang="zh-TW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234,240 Flip-Flops</a:t>
                      </a:r>
                      <a:br>
                        <a:rPr lang="en-US" altLang="zh-TW"/>
                      </a:br>
                      <a:r>
                        <a:rPr lang="en-US" altLang="zh-TW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117,120 LUTs</a:t>
                      </a:r>
                    </a:p>
                    <a:p>
                      <a:pPr algn="ctr"/>
                      <a:r>
                        <a:rPr lang="en-US" altLang="zh-TW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 Mb total block RAM</a:t>
                      </a:r>
                    </a:p>
                    <a:p>
                      <a:pPr algn="ctr"/>
                      <a:r>
                        <a:rPr lang="en-US" altLang="zh-TW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18.0 Mb ultra RAM</a:t>
                      </a:r>
                    </a:p>
                    <a:p>
                      <a:pPr algn="ctr"/>
                      <a:r>
                        <a:rPr lang="en-US" altLang="zh-TW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1,248 DSP slices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PS: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1200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MHz</a:t>
                      </a:r>
                      <a:endParaRPr lang="en-US"/>
                    </a:p>
                    <a:p>
                      <a:pPr algn="ctr"/>
                      <a:r>
                        <a:rPr lang="en-US" altLang="zh-TW"/>
                        <a:t>PL:</a:t>
                      </a:r>
                      <a:r>
                        <a:rPr lang="zh-TW" altLang="en-US"/>
                        <a:t> </a:t>
                      </a:r>
                      <a:r>
                        <a:rPr lang="en-US"/>
                        <a:t>296.66 MHz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197149"/>
                  </a:ext>
                </a:extLst>
              </a:tr>
              <a:tr h="11056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Intel Core i7-12700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Intel 7 (10 nm-class)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12 cores, 20 threads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2.10 GHz (base)</a:t>
                      </a:r>
                    </a:p>
                    <a:p>
                      <a:pPr algn="ctr"/>
                      <a:r>
                        <a:rPr lang="en-US"/>
                        <a:t>4.90 GHz (max turbo)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785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7282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68DE5C-C86B-6A5D-44DB-C990555B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Compare</a:t>
            </a:r>
            <a:endParaRPr lang="zh-TW" altLang="en-US"/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CA157EDF-F62B-21D9-0F37-82FC210EB5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3368082"/>
              </p:ext>
            </p:extLst>
          </p:nvPr>
        </p:nvGraphicFramePr>
        <p:xfrm>
          <a:off x="363537" y="2400300"/>
          <a:ext cx="11464925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87">
                  <a:extLst>
                    <a:ext uri="{9D8B030D-6E8A-4147-A177-3AD203B41FA5}">
                      <a16:colId xmlns:a16="http://schemas.microsoft.com/office/drawing/2014/main" val="616957071"/>
                    </a:ext>
                  </a:extLst>
                </a:gridCol>
                <a:gridCol w="3164946">
                  <a:extLst>
                    <a:ext uri="{9D8B030D-6E8A-4147-A177-3AD203B41FA5}">
                      <a16:colId xmlns:a16="http://schemas.microsoft.com/office/drawing/2014/main" val="978793587"/>
                    </a:ext>
                  </a:extLst>
                </a:gridCol>
                <a:gridCol w="3164946">
                  <a:extLst>
                    <a:ext uri="{9D8B030D-6E8A-4147-A177-3AD203B41FA5}">
                      <a16:colId xmlns:a16="http://schemas.microsoft.com/office/drawing/2014/main" val="2452578686"/>
                    </a:ext>
                  </a:extLst>
                </a:gridCol>
                <a:gridCol w="3164946">
                  <a:extLst>
                    <a:ext uri="{9D8B030D-6E8A-4147-A177-3AD203B41FA5}">
                      <a16:colId xmlns:a16="http://schemas.microsoft.com/office/drawing/2014/main" val="21670190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Pattern1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Pattern2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Pattern3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806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interface_point1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120,600,100,0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200,700,150,0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150,500,250,0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61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/>
                        <a:t>interface_point2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800,200,200,0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700,300,100,0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710,220,100,0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528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/>
                        <a:t>interface_point3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450,180,250,0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440,190,150,0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360,790,150,0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909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/>
                        <a:t>interface_point4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150,460,760,1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140,400,790,1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250,440,710,1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713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/>
                        <a:t>interface_point5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880,120,700,1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880,120,420,1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890,220,620,1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227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/>
                        <a:t>interface_point6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500,700,730,1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560,700,640,1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530,800,540,1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98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orientation_point1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300,800,500,1,0,1,0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400,900,300,1,1,1,0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400,750,200,1,0,0,0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963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/>
                        <a:t>orientation_point2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600,0,400,-1,0,1,0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700,100,500,-1,0,0,0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750,50,400,-1,0,0,0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481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/>
                        <a:t>orientation_point3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800,500,400,-1,0,1,0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900,400,600,1,0,0,0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750,400,500,1,1,1,0</a:t>
                      </a:r>
                      <a:endParaRPr lang="zh-TW" alt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407712"/>
                  </a:ext>
                </a:extLst>
              </a:tr>
            </a:tbl>
          </a:graphicData>
        </a:graphic>
      </p:graphicFrame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EB3D58A7-C409-1CE2-C61D-A861EEF904A1}"/>
              </a:ext>
            </a:extLst>
          </p:cNvPr>
          <p:cNvSpPr txBox="1">
            <a:spLocks/>
          </p:cNvSpPr>
          <p:nvPr/>
        </p:nvSpPr>
        <p:spPr>
          <a:xfrm>
            <a:off x="389467" y="1219200"/>
            <a:ext cx="11463866" cy="923925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60000"/>
              <a:buFont typeface="Wingdings" panose="05000000000000000000" pitchFamily="2" charset="2"/>
              <a:buChar char="l"/>
              <a:defRPr lang="zh-TW" altLang="en-US" sz="2400" b="1" kern="12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ü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0">
                <a:latin typeface="+mn-lt"/>
              </a:rPr>
              <a:t>Interface_point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format</a:t>
            </a:r>
            <a:r>
              <a:rPr lang="en-US" altLang="zh-TW" b="0">
                <a:latin typeface="+mn-lt"/>
                <a:ea typeface="PMingLiU" panose="02020500000000000000" pitchFamily="18" charset="-120"/>
              </a:rPr>
              <a:t>:</a:t>
            </a:r>
            <a:r>
              <a:rPr lang="zh-TW" altLang="en-US" b="0">
                <a:latin typeface="+mn-lt"/>
                <a:ea typeface="PMingLiU" panose="02020500000000000000" pitchFamily="18" charset="-120"/>
              </a:rPr>
              <a:t> </a:t>
            </a:r>
            <a:r>
              <a:rPr lang="en-US" altLang="zh-TW" b="0">
                <a:latin typeface="+mn-lt"/>
                <a:ea typeface="PMingLiU" panose="02020500000000000000" pitchFamily="18" charset="-120"/>
              </a:rPr>
              <a:t>[X,Y,Z,formation]</a:t>
            </a:r>
          </a:p>
          <a:p>
            <a:pPr algn="just"/>
            <a:r>
              <a:rPr lang="en-US" altLang="zh-TW" b="0">
                <a:latin typeface="+mn-lt"/>
              </a:rPr>
              <a:t>Orientation_point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format</a:t>
            </a:r>
            <a:r>
              <a:rPr lang="en-US" altLang="zh-TW" b="0">
                <a:latin typeface="+mn-lt"/>
                <a:ea typeface="PMingLiU" panose="02020500000000000000" pitchFamily="18" charset="-120"/>
              </a:rPr>
              <a:t>:</a:t>
            </a:r>
            <a:r>
              <a:rPr lang="zh-TW" altLang="en-US" b="0">
                <a:latin typeface="+mn-lt"/>
                <a:ea typeface="PMingLiU" panose="02020500000000000000" pitchFamily="18" charset="-120"/>
              </a:rPr>
              <a:t> </a:t>
            </a:r>
            <a:r>
              <a:rPr lang="en-US" altLang="zh-TW" b="0">
                <a:latin typeface="+mn-lt"/>
                <a:ea typeface="PMingLiU" panose="02020500000000000000" pitchFamily="18" charset="-120"/>
              </a:rPr>
              <a:t>[X,Y,Z,Gx,Gy,Gz,formation]</a:t>
            </a:r>
            <a:endParaRPr lang="en-US" altLang="zh-TW" b="0">
              <a:latin typeface="+mn-lt"/>
            </a:endParaRPr>
          </a:p>
          <a:p>
            <a:pPr algn="just"/>
            <a:endParaRPr lang="en-US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29166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47FD7F-8F09-31F9-8C29-C74AEF6EA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Compare</a:t>
            </a:r>
            <a:endParaRPr lang="zh-TW" altLang="en-US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6FD2E454-B534-2CC3-4FA7-1A40BE9E02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6048524"/>
              </p:ext>
            </p:extLst>
          </p:nvPr>
        </p:nvGraphicFramePr>
        <p:xfrm>
          <a:off x="2167503" y="2330967"/>
          <a:ext cx="785699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141">
                  <a:extLst>
                    <a:ext uri="{9D8B030D-6E8A-4147-A177-3AD203B41FA5}">
                      <a16:colId xmlns:a16="http://schemas.microsoft.com/office/drawing/2014/main" val="1980578190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2829141966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3857478244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966202861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2607611922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FPGA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Speedup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000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         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10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20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30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40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723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Pattern1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172.53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107.36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63.37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45.97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3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/>
                        <a:t>Pattern2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173.19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112.05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63.83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45.17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06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/>
                        <a:t>Pattern3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146.65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90.33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57.05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40.58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153445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9C1B2CF1-F9AD-DE7C-F3E5-D45727C4D990}"/>
              </a:ext>
            </a:extLst>
          </p:cNvPr>
          <p:cNvSpPr txBox="1"/>
          <p:nvPr/>
        </p:nvSpPr>
        <p:spPr>
          <a:xfrm>
            <a:off x="2167503" y="2727404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Pattern</a:t>
            </a:r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E7FD224-D506-A334-6EF8-928368D5C316}"/>
              </a:ext>
            </a:extLst>
          </p:cNvPr>
          <p:cNvSpPr txBox="1"/>
          <p:nvPr/>
        </p:nvSpPr>
        <p:spPr>
          <a:xfrm>
            <a:off x="3260534" y="2621910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Resolution</a:t>
            </a:r>
            <a:endParaRPr lang="zh-TW" altLang="en-US"/>
          </a:p>
        </p:txBody>
      </p:sp>
      <p:graphicFrame>
        <p:nvGraphicFramePr>
          <p:cNvPr id="8" name="內容版面配置區 3">
            <a:extLst>
              <a:ext uri="{FF2B5EF4-FFF2-40B4-BE49-F238E27FC236}">
                <a16:creationId xmlns:a16="http://schemas.microsoft.com/office/drawing/2014/main" id="{630744A1-AC4D-8A83-5265-3FE80DAFAD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5732034"/>
              </p:ext>
            </p:extLst>
          </p:nvPr>
        </p:nvGraphicFramePr>
        <p:xfrm>
          <a:off x="2167503" y="4476110"/>
          <a:ext cx="785699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141">
                  <a:extLst>
                    <a:ext uri="{9D8B030D-6E8A-4147-A177-3AD203B41FA5}">
                      <a16:colId xmlns:a16="http://schemas.microsoft.com/office/drawing/2014/main" val="1980578190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2829141966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3857478244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966202861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2607611922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FPGA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Error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Rate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(%)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000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         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10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20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30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40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723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Pattern1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0.70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0.53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0.34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0.37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3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/>
                        <a:t>Pattern2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0.00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0.30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0.31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0.28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06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/>
                        <a:t>Pattern3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1.00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0.58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0.83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0.78</a:t>
                      </a:r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1534451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9CC27F42-8A3D-EA78-5D4E-740D354CB6E6}"/>
              </a:ext>
            </a:extLst>
          </p:cNvPr>
          <p:cNvSpPr txBox="1"/>
          <p:nvPr/>
        </p:nvSpPr>
        <p:spPr>
          <a:xfrm>
            <a:off x="2167503" y="487254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Pattern</a:t>
            </a:r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4A58865-C33C-C9DF-1D3C-E83433C52888}"/>
              </a:ext>
            </a:extLst>
          </p:cNvPr>
          <p:cNvSpPr txBox="1"/>
          <p:nvPr/>
        </p:nvSpPr>
        <p:spPr>
          <a:xfrm>
            <a:off x="3260534" y="476705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Resolution</a:t>
            </a:r>
            <a:endParaRPr lang="zh-TW" altLang="en-US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0AA7DF1E-1F4C-D4C6-424B-8D531E16DFFA}"/>
              </a:ext>
            </a:extLst>
          </p:cNvPr>
          <p:cNvSpPr txBox="1">
            <a:spLocks/>
          </p:cNvSpPr>
          <p:nvPr/>
        </p:nvSpPr>
        <p:spPr>
          <a:xfrm>
            <a:off x="389467" y="1219200"/>
            <a:ext cx="11463866" cy="5063067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60000"/>
              <a:buFont typeface="Wingdings" panose="05000000000000000000" pitchFamily="2" charset="2"/>
              <a:buChar char="l"/>
              <a:defRPr lang="zh-TW" altLang="en-US" sz="2400" b="1" kern="12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ü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b="0">
                <a:latin typeface="+mn-lt"/>
              </a:rPr>
              <a:t>Ignore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weights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compute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time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since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takes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very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short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time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(&lt;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0.5%).</a:t>
            </a:r>
          </a:p>
          <a:p>
            <a:pPr algn="just"/>
            <a:r>
              <a:rPr lang="en-US" b="0">
                <a:latin typeface="+mn-lt"/>
              </a:rPr>
              <a:t>Faster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then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CPU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under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all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patterns,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but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has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little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fixed-point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precision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error.</a:t>
            </a:r>
            <a:endParaRPr lang="en-US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591897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0EC3EF-710F-83FA-3003-E57961A18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Compare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C32384F-674F-AA27-4239-BCA61FDCF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452" y="1437138"/>
            <a:ext cx="8221096" cy="490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955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31D33C-73B0-45F4-6B58-C7C450E0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Compare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4A4970-9DB0-8D91-607C-14F506B96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219200"/>
            <a:ext cx="11463866" cy="952500"/>
          </a:xfrm>
        </p:spPr>
        <p:txBody>
          <a:bodyPr/>
          <a:lstStyle/>
          <a:p>
            <a:r>
              <a:rPr lang="en-US" altLang="zh-TW" b="0">
                <a:latin typeface="+mn-lt"/>
              </a:rPr>
              <a:t>The image on the left shows the result after replacing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the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label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of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GemPy’s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result.</a:t>
            </a:r>
          </a:p>
          <a:p>
            <a:r>
              <a:rPr lang="en-US" altLang="zh-TW" b="0">
                <a:latin typeface="+mn-lt"/>
              </a:rPr>
              <a:t>The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difference is imperceptible to the naked eye.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531109-F26C-21E3-4F5E-94567A2F7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546" y="2171700"/>
            <a:ext cx="5114477" cy="461087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2DB1E80-A34E-C40C-5CCE-4AD176560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78" y="2170667"/>
            <a:ext cx="5115622" cy="461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6671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D44229-66F8-1C1D-6EFD-19D84E2C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Conclusion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DF5F82-1026-CB04-AD87-AB9E69DE9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b="0">
                <a:latin typeface="+mn-lt"/>
              </a:rPr>
              <a:t>Analyze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GemPy’s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function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source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code.</a:t>
            </a:r>
          </a:p>
          <a:p>
            <a:pPr algn="just"/>
            <a:r>
              <a:rPr lang="en-US" altLang="zh-TW" b="0">
                <a:latin typeface="+mn-lt"/>
              </a:rPr>
              <a:t>Successfully separated the main modeling component.</a:t>
            </a:r>
          </a:p>
          <a:p>
            <a:pPr algn="just"/>
            <a:r>
              <a:rPr lang="en-US" altLang="zh-TW" b="0">
                <a:latin typeface="+mn-lt"/>
              </a:rPr>
              <a:t>Profiling which part takes the most time.</a:t>
            </a:r>
          </a:p>
          <a:p>
            <a:pPr algn="just"/>
            <a:r>
              <a:rPr lang="en-US" altLang="zh-TW" b="0">
                <a:latin typeface="+mn-lt"/>
              </a:rPr>
              <a:t>Proposed several methods for hardware acceleration.</a:t>
            </a:r>
          </a:p>
          <a:p>
            <a:pPr algn="just"/>
            <a:r>
              <a:rPr lang="en-US" altLang="zh-TW" b="0">
                <a:latin typeface="+mn-lt"/>
              </a:rPr>
              <a:t>Implement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systolic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array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and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CORDIC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to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hardware.</a:t>
            </a:r>
          </a:p>
          <a:p>
            <a:pPr algn="just"/>
            <a:r>
              <a:rPr lang="en-US" altLang="zh-TW" b="0">
                <a:latin typeface="+mn-lt"/>
              </a:rPr>
              <a:t>By combining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all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the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module, we can compute the</a:t>
            </a:r>
            <a:r>
              <a:rPr lang="zh-TW" altLang="en-US" b="0">
                <a:latin typeface="+mn-lt"/>
              </a:rPr>
              <a:t> </a:t>
            </a:r>
            <a:r>
              <a:rPr lang="en-US" altLang="zh-TW" b="0">
                <a:latin typeface="+mn-lt"/>
              </a:rPr>
              <a:t>interpolation faster than a CPU using the NumPy backend, which is the default configuration on Windows.</a:t>
            </a:r>
          </a:p>
          <a:p>
            <a:pPr algn="just"/>
            <a:r>
              <a:rPr lang="en-US" altLang="zh-TW" b="0">
                <a:latin typeface="+mn-lt"/>
              </a:rPr>
              <a:t>Using WebSocket to enable communication between PC and FPGA.</a:t>
            </a:r>
          </a:p>
          <a:p>
            <a:pPr algn="just"/>
            <a:r>
              <a:rPr lang="en-US" altLang="zh-TW" b="0">
                <a:latin typeface="+mn-lt"/>
              </a:rPr>
              <a:t>Reduce errors to a level undetectable by the human eye.</a:t>
            </a:r>
            <a:endParaRPr lang="zh-TW" altLang="en-US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661012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EE3EB1-6789-4DD8-82EF-27B6D8A45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Reference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373EC2-44AB-4F86-B565-4BB4A3C86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0" i="1">
                <a:solidFill>
                  <a:srgbClr val="3E4349"/>
                </a:solidFill>
                <a:effectLst/>
                <a:latin typeface="Georgia" panose="02040502050405020303" pitchFamily="18" charset="0"/>
              </a:rPr>
              <a:t>“GemPy 1.0: open-source stochastic geological modeling and inversion” by de la Varga et al. (2019).</a:t>
            </a:r>
          </a:p>
          <a:p>
            <a:r>
              <a:rPr lang="en-US" altLang="zh-TW" b="0" i="1">
                <a:solidFill>
                  <a:srgbClr val="3E4349"/>
                </a:solidFill>
                <a:effectLst/>
                <a:latin typeface="Georgia" panose="02040502050405020303" pitchFamily="18" charset="0"/>
              </a:rPr>
              <a:t>Lajaunie, C., Courrioux, G., &amp; Manuel, L. (1997). `Foliation fields and 3D cartography in geology: principles of a method based on potential interpolation.</a:t>
            </a:r>
            <a:r>
              <a:rPr lang="en-US" altLang="zh-TW" b="0" i="0">
                <a:solidFill>
                  <a:srgbClr val="3E4349"/>
                </a:solidFill>
                <a:effectLst/>
                <a:latin typeface="Georgia" panose="02040502050405020303" pitchFamily="18" charset="0"/>
              </a:rPr>
              <a:t> Mathematical Geology, 29(4), 571-584.</a:t>
            </a:r>
          </a:p>
          <a:p>
            <a:r>
              <a:rPr lang="en-US" altLang="zh-TW" b="0" i="1">
                <a:solidFill>
                  <a:srgbClr val="3E4349"/>
                </a:solidFill>
                <a:latin typeface="Georgia" panose="02040502050405020303" pitchFamily="18" charset="0"/>
              </a:rPr>
              <a:t>Allard, D. (2013). J.-P. Chilès, P. Delfiner: Geostatistics: Modeling Spatial Uncertainty. Mathematical Geosciences, 45(3), 377–380.</a:t>
            </a:r>
            <a:endParaRPr lang="zh-TW" altLang="en-US" b="0" i="1" dirty="0">
              <a:solidFill>
                <a:srgbClr val="3E4349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7962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9E45ECB-A1F3-4A40-BA73-D4E7388F40FD}"/>
              </a:ext>
            </a:extLst>
          </p:cNvPr>
          <p:cNvSpPr txBox="1"/>
          <p:nvPr/>
        </p:nvSpPr>
        <p:spPr>
          <a:xfrm>
            <a:off x="3593431" y="2828835"/>
            <a:ext cx="5005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200">
                <a:solidFill>
                  <a:schemeClr val="accent1">
                    <a:lumMod val="75000"/>
                  </a:schemeClr>
                </a:solidFill>
              </a:rPr>
              <a:t>THANKS</a:t>
            </a:r>
            <a:endParaRPr lang="zh-TW" altLang="en-US" sz="72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894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6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25712</TotalTime>
  <Words>2464</Words>
  <Application>Microsoft Office PowerPoint</Application>
  <PresentationFormat>寬螢幕</PresentationFormat>
  <Paragraphs>446</Paragraphs>
  <Slides>57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57</vt:i4>
      </vt:variant>
    </vt:vector>
  </HeadingPairs>
  <TitlesOfParts>
    <vt:vector size="64" baseType="lpstr">
      <vt:lpstr>NimbusRomNo9L-Regu</vt:lpstr>
      <vt:lpstr>Arial</vt:lpstr>
      <vt:lpstr>Calibri</vt:lpstr>
      <vt:lpstr>Cambria Math</vt:lpstr>
      <vt:lpstr>Georgia</vt:lpstr>
      <vt:lpstr>Wingdings</vt:lpstr>
      <vt:lpstr>Office 佈景主題</vt:lpstr>
      <vt:lpstr> Geological Modeling by Cokriging Interpolation in GemPy and Its Hardware Acceleration </vt:lpstr>
      <vt:lpstr>Project Flow Chart</vt:lpstr>
      <vt:lpstr>GemPy Geological Modeling</vt:lpstr>
      <vt:lpstr>GemPy Geological Modeling</vt:lpstr>
      <vt:lpstr>Kriging Interpolation</vt:lpstr>
      <vt:lpstr>Universal Cokriging In GemPy</vt:lpstr>
      <vt:lpstr>Dual form</vt:lpstr>
      <vt:lpstr>Dual form</vt:lpstr>
      <vt:lpstr>Calculate Flow </vt:lpstr>
      <vt:lpstr>Parameter</vt:lpstr>
      <vt:lpstr>SRT Transform</vt:lpstr>
      <vt:lpstr>SRT Transform</vt:lpstr>
      <vt:lpstr>SRT Transform</vt:lpstr>
      <vt:lpstr>Covariance model</vt:lpstr>
      <vt:lpstr>Gradient covariance</vt:lpstr>
      <vt:lpstr>Gradient covariance</vt:lpstr>
      <vt:lpstr>Gradient covariance</vt:lpstr>
      <vt:lpstr>Cross covariance</vt:lpstr>
      <vt:lpstr>Interface covariance</vt:lpstr>
      <vt:lpstr>Universal matrix</vt:lpstr>
      <vt:lpstr>Weights</vt:lpstr>
      <vt:lpstr>Evaluate Scalar field</vt:lpstr>
      <vt:lpstr>Calculate Flow </vt:lpstr>
      <vt:lpstr>Grid</vt:lpstr>
      <vt:lpstr>Output</vt:lpstr>
      <vt:lpstr>2D Rendering </vt:lpstr>
      <vt:lpstr>3D Rendering</vt:lpstr>
      <vt:lpstr>Profiling</vt:lpstr>
      <vt:lpstr>Horner’s Method</vt:lpstr>
      <vt:lpstr>Systolic Array</vt:lpstr>
      <vt:lpstr>Systolic Array</vt:lpstr>
      <vt:lpstr>Systolic Array</vt:lpstr>
      <vt:lpstr>CORDIC</vt:lpstr>
      <vt:lpstr>CORDIC </vt:lpstr>
      <vt:lpstr>CORDIC</vt:lpstr>
      <vt:lpstr>CORDIC</vt:lpstr>
      <vt:lpstr>Horner’s Method</vt:lpstr>
      <vt:lpstr>Horner’s Method</vt:lpstr>
      <vt:lpstr>Horner’s Method</vt:lpstr>
      <vt:lpstr>Horner’s Method</vt:lpstr>
      <vt:lpstr>Block Diagram</vt:lpstr>
      <vt:lpstr>Block Diagram</vt:lpstr>
      <vt:lpstr>Block Diagram</vt:lpstr>
      <vt:lpstr>Create IP</vt:lpstr>
      <vt:lpstr>Data Flow</vt:lpstr>
      <vt:lpstr>Block Design</vt:lpstr>
      <vt:lpstr>Utilization</vt:lpstr>
      <vt:lpstr>WebSocket</vt:lpstr>
      <vt:lpstr>GemPy default setting</vt:lpstr>
      <vt:lpstr>Hardware Parameter</vt:lpstr>
      <vt:lpstr>Compare</vt:lpstr>
      <vt:lpstr>Compare</vt:lpstr>
      <vt:lpstr>Compare</vt:lpstr>
      <vt:lpstr>Compare</vt:lpstr>
      <vt:lpstr>Conclusion</vt:lpstr>
      <vt:lpstr>Reference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帛駿 陳</cp:lastModifiedBy>
  <cp:revision>755</cp:revision>
  <dcterms:created xsi:type="dcterms:W3CDTF">2023-09-30T09:23:19Z</dcterms:created>
  <dcterms:modified xsi:type="dcterms:W3CDTF">2026-02-04T13:09:12Z</dcterms:modified>
</cp:coreProperties>
</file>